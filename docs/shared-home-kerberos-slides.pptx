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b89f08aa-2a28-8aef-d017-57c7f9733135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Inside the code" id="{ca4e0629-6848-b225-1edf-c6f4a1ae245b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Security and trade-offs" id="{1a2899c6-fafb-108e-11cf-dceb90b2647e}">
          <p14:sldIdLst>
            <p14:sldId id="271"/>
            <p14:sldId id="272"/>
          </p14:sldIdLst>
        </p14:section>
        <p14:section name="Extensions and evidence" id="{9959a02b-3fd6-f671-5765-78ae191a8f1d}">
          <p14:sldIdLst>
            <p14:sldId id="273"/>
            <p14:sldId id="274"/>
            <p14:sldId id="275"/>
          </p14:sldIdLst>
        </p14:section>
        <p14:section name="Wrap-up" id="{2199b98c-c9b1-eb6d-0ba7-39600ffd2a83}">
          <p14:sldIdLst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A5F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F3A5F"/>
                </a:solidFill>
                <a:latin typeface="+mn-lt"/>
              </a:rPr>
              <a:t>Lines of code per file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Lines</c:v>
                </c:pt>
              </c:strCache>
            </c:strRef>
          </c:tx>
          <c:spPr>
            <a:solidFill>
              <a:srgbClr val="1F3A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0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credd.py (daemon)</c:v>
                  </c:pt>
                  <c:pt idx="1">
                    <c:v>verify-shared-home.sh</c:v>
                  </c:pt>
                  <c:pt idx="2">
                    <c:v>lakefs_cred_broker.py</c:v>
                  </c:pt>
                  <c:pt idx="3">
                    <c:v>LakeFS provider (Java)</c:v>
                  </c:pt>
                  <c:pt idx="4">
                    <c:v>_krb.py (helpers)</c:v>
                  </c:pt>
                  <c:pt idx="5">
                    <c:v>hive_client.py</c:v>
                  </c:pt>
                  <c:pt idx="6">
                    <c:v>install helper</c:v>
                  </c:pt>
                  <c:pt idx="7">
                    <c:v>get.py (client)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418</c:v>
                </c:pt>
                <c:pt idx="1">
                  <c:v>180</c:v>
                </c:pt>
                <c:pt idx="2">
                  <c:v>167</c:v>
                </c:pt>
                <c:pt idx="3">
                  <c:v>158</c:v>
                </c:pt>
                <c:pt idx="4">
                  <c:v>142</c:v>
                </c:pt>
                <c:pt idx="5">
                  <c:v>93</c:v>
                </c:pt>
                <c:pt idx="6">
                  <c:v>55</c:v>
                </c:pt>
                <c:pt idx="7">
                  <c:v>32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620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7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explain the shared-home-kerberos repository (krbhpc 2.0.0) to recent graduates. This deck tells the story; the Word document has every line of code explained with line numbers. Suggested pace: about 1.5 minutes per slide, roughly 35 minutes plus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five constraints. The punchline: the normal path (user runs kinit, ticket is forwarded to the job) is closed on every side. Doc section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 to remember: a single trusted root daemon holds one service account's key, asks Active Directory for short-lived service tickets on each user's behalf, and writes them into the user's home directory, which every compute node already shares. Doc 2.1.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Spend time here if the audience is new to Kerberos. The full glossary table is in doc section 3. Key point: the KDC is Active Directory; the repository runs no KDC.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_krb.py lines 127-142 (s4u_mint). The file-based KDC in the test cannot hold the allow-list, which is why the end-to-end test proves the request is well-formed but cannot complete the proxy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numbers 1 to 7 plus the refresh loop. 1 CAC login. 2 krb-get over the UNIX socket, UID from SO_PEERCRED. 3 broker TGT from one keytab. 4 S4U mint. 5 install as the user into $HOME. 6 TaskProlog sets KRB5CCNAME on every node. 7 job uses the Hive ticket. Refresh loop re-mints before expiry. Doc 4.2.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Transition: now map each step of the flow to the code that performs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is small: a daemon, a helper module, a tiny client and an install helper. pyproject.toml declares dependencies = []; kinit, kvno and setpriv are OS tools. Repository map: doc 4.3.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 section 5. Pure functions are unit-tested in tests/test_krb_helpers.py. The 60-second timeout in run() keeps a hung KDC from hanging the daemon.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Plus one free function, _assert_secure (lines 73-90): fail closed unless a path is root-owned, not a symlink, the right type, and not group/world writable; strict mode requires 0600 for the keytab. Doc section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credd.py lines 227-247. Temp file plus os.replace means a failed kinit never destroys the working cache.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credd.py ensure 281-302, _mint 249-257, _install 259-273. The install helper is bin/krb-install-ccache: self-contained, stdlib-only, so nothing can hijack its imports. Doc 6.5 and 7.2-7.3.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Users run eval "$(krb-get)"; /etc/profile.d runs it at login. Errors go to stderr so eval never executes them. Handler lines 336-372; main sets socket mode 0666 at line 404.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refresh_loop lines 317-333; _slurm_uids 307-315. Values come from config/credd.conf. One user's failure is logged and does not stop the loop for others.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 section 9. The optional prolog.krb.sh only logs when a node can't see the cache; it always exits 0. hive_client.py then connects with auth_mechanism GSSAPI and service name hive.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Central guarantee from SECURITY.md: an unprivileged local user can obtain their own service tickets and nobody else's, and only if enrolled and delegation-eligible. Threat table: doc section 13. Hardening tests: tests/test_hardening.py (9 cases, all pass).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stated plainly in the README. If either is unacceptable, the alternative is a node-local KCM design, which this repo deliberately does not implement.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 section 12. Broker trusts the identity header only from trusted proxy IPs and binds to 127.0.0.1. Java provider caches the key and refreshes 60 s before expiry, using -Dsun.security.jgss.native=true so it can read a cache with only a service ticket.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unit test files were re-run while preparing this deck: 5 helper tests and 9 hardening tests pass. End-to-end output is recorded in tests/verify-shared-home.output.txt. Doc section 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None of these changes the design. Full list with line numbers in doc section 14, including the slurm.conf.snippet 'Java 24' leftover, the unlocked _active dict, and the lakeFS key TTL.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floor. Prepared answers to eleven likely questions are in doc section 15 (keytabs vs broker, why no TGT, SO_PEERCRED, write-as-user, compute delivery, long-queued jobs, daemon down, revocation, Sybil comparison, why shell out, what was tested).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0604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shared-home-kerberos · explained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shared-home-kerberos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0604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How krb-credd gives every Slurm job Active Directory Kerberos tickets — with one broker key, constrained delegation and the shared home directory</a:t>
            </a:r>
            <a:endParaRPr lang="en-US" sz="1800" dirty="0"/>
          </a:p>
        </p:txBody>
      </p:sp>
      <p:pic>
        <p:nvPicPr>
          <p:cNvPr id="4" name="key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85800"/>
            <a:ext cx="548640" cy="548640"/>
          </a:xfrm>
          <a:prstGeom prst="rect">
            <a:avLst/>
          </a:prstGeom>
        </p:spPr>
      </p:pic>
      <p:sp>
        <p:nvSpPr>
          <p:cNvPr id="5" name="subtitle note"/>
          <p:cNvSpPr txBox="1"/>
          <p:nvPr/>
        </p:nvSpPr>
        <p:spPr>
          <a:xfrm>
            <a:off x="548640" y="42062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A walkthrough of the code for new engineers  ·  companion to the line-by-line Word guide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Why jobs can't just “log in” to Kerberos</a:t>
            </a:r>
            <a:endParaRPr lang="en-US" sz="2600" dirty="0"/>
          </a:p>
        </p:txBody>
      </p:sp>
      <p:sp>
        <p:nvSpPr>
          <p:cNvPr id="3" name="constraint card 1"/>
          <p:cNvSpPr/>
          <p:nvPr/>
        </p:nvSpPr>
        <p:spPr>
          <a:xfrm>
            <a:off x="457200" y="1143000"/>
            <a:ext cx="1517904" cy="260604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4" name="constraint 1 circle"/>
          <p:cNvSpPr/>
          <p:nvPr/>
        </p:nvSpPr>
        <p:spPr>
          <a:xfrm>
            <a:off x="941832" y="132588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constraint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4478" y="1468526"/>
            <a:ext cx="263347" cy="263347"/>
          </a:xfrm>
          <a:prstGeom prst="rect">
            <a:avLst/>
          </a:prstGeom>
        </p:spPr>
      </p:pic>
      <p:sp>
        <p:nvSpPr>
          <p:cNvPr id="6" name="constraint title 1"/>
          <p:cNvSpPr txBox="1"/>
          <p:nvPr/>
        </p:nvSpPr>
        <p:spPr>
          <a:xfrm>
            <a:off x="566928" y="2011680"/>
            <a:ext cx="129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CAC login only</a:t>
            </a:r>
            <a:endParaRPr lang="en-US" sz="1400" dirty="0"/>
          </a:p>
        </p:txBody>
      </p:sp>
      <p:sp>
        <p:nvSpPr>
          <p:cNvPr id="7" name="constraint body 1"/>
          <p:cNvSpPr txBox="1"/>
          <p:nvPr/>
        </p:nvSpPr>
        <p:spPr>
          <a:xfrm>
            <a:off x="566928" y="260604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Smartcard can't get a Kerberos ticket on the cluster</a:t>
            </a:r>
            <a:endParaRPr lang="en-US" sz="1200" dirty="0"/>
          </a:p>
        </p:txBody>
      </p:sp>
      <p:sp>
        <p:nvSpPr>
          <p:cNvPr id="8" name="constraint card 2"/>
          <p:cNvSpPr/>
          <p:nvPr/>
        </p:nvSpPr>
        <p:spPr>
          <a:xfrm>
            <a:off x="2139696" y="1143000"/>
            <a:ext cx="1517904" cy="260604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9" name="constraint 2 circle"/>
          <p:cNvSpPr/>
          <p:nvPr/>
        </p:nvSpPr>
        <p:spPr>
          <a:xfrm>
            <a:off x="2624328" y="132588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constraint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6974" y="1468526"/>
            <a:ext cx="263347" cy="263347"/>
          </a:xfrm>
          <a:prstGeom prst="rect">
            <a:avLst/>
          </a:prstGeom>
        </p:spPr>
      </p:pic>
      <p:sp>
        <p:nvSpPr>
          <p:cNvPr id="11" name="constraint title 2"/>
          <p:cNvSpPr txBox="1"/>
          <p:nvPr/>
        </p:nvSpPr>
        <p:spPr>
          <a:xfrm>
            <a:off x="2249424" y="2011680"/>
            <a:ext cx="129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No forwarding</a:t>
            </a:r>
            <a:endParaRPr lang="en-US" sz="1400" dirty="0"/>
          </a:p>
        </p:txBody>
      </p:sp>
      <p:sp>
        <p:nvSpPr>
          <p:cNvPr id="12" name="constraint body 2"/>
          <p:cNvSpPr txBox="1"/>
          <p:nvPr/>
        </p:nvSpPr>
        <p:spPr>
          <a:xfrm>
            <a:off x="2249424" y="260604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Sending the PC's ticket over SSH is blocked</a:t>
            </a:r>
            <a:endParaRPr lang="en-US" sz="1200" dirty="0"/>
          </a:p>
        </p:txBody>
      </p:sp>
      <p:sp>
        <p:nvSpPr>
          <p:cNvPr id="13" name="constraint card 3"/>
          <p:cNvSpPr/>
          <p:nvPr/>
        </p:nvSpPr>
        <p:spPr>
          <a:xfrm>
            <a:off x="3822192" y="1143000"/>
            <a:ext cx="1517904" cy="260604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14" name="constraint 3 circle"/>
          <p:cNvSpPr/>
          <p:nvPr/>
        </p:nvSpPr>
        <p:spPr>
          <a:xfrm>
            <a:off x="4306824" y="132588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constraint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9470" y="1468526"/>
            <a:ext cx="263347" cy="263347"/>
          </a:xfrm>
          <a:prstGeom prst="rect">
            <a:avLst/>
          </a:prstGeom>
        </p:spPr>
      </p:pic>
      <p:sp>
        <p:nvSpPr>
          <p:cNvPr id="16" name="constraint title 3"/>
          <p:cNvSpPr txBox="1"/>
          <p:nvPr/>
        </p:nvSpPr>
        <p:spPr>
          <a:xfrm>
            <a:off x="3931920" y="2011680"/>
            <a:ext cx="129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Numbers, not names</a:t>
            </a:r>
            <a:endParaRPr lang="en-US" sz="1400" dirty="0"/>
          </a:p>
        </p:txBody>
      </p:sp>
      <p:sp>
        <p:nvSpPr>
          <p:cNvPr id="17" name="constraint body 3"/>
          <p:cNvSpPr txBox="1"/>
          <p:nvPr/>
        </p:nvSpPr>
        <p:spPr>
          <a:xfrm>
            <a:off x="3931920" y="260604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Cluster knows users only by UID/GID</a:t>
            </a:r>
            <a:endParaRPr lang="en-US" sz="1200" dirty="0"/>
          </a:p>
        </p:txBody>
      </p:sp>
      <p:sp>
        <p:nvSpPr>
          <p:cNvPr id="18" name="constraint card 4"/>
          <p:cNvSpPr/>
          <p:nvPr/>
        </p:nvSpPr>
        <p:spPr>
          <a:xfrm>
            <a:off x="5504688" y="1143000"/>
            <a:ext cx="1517904" cy="260604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19" name="constraint 4 circle"/>
          <p:cNvSpPr/>
          <p:nvPr/>
        </p:nvSpPr>
        <p:spPr>
          <a:xfrm>
            <a:off x="5989320" y="132588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constraint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31966" y="1468526"/>
            <a:ext cx="263347" cy="263347"/>
          </a:xfrm>
          <a:prstGeom prst="rect">
            <a:avLst/>
          </a:prstGeom>
        </p:spPr>
      </p:pic>
      <p:sp>
        <p:nvSpPr>
          <p:cNvPr id="21" name="constraint title 4"/>
          <p:cNvSpPr txBox="1"/>
          <p:nvPr/>
        </p:nvSpPr>
        <p:spPr>
          <a:xfrm>
            <a:off x="5614416" y="2011680"/>
            <a:ext cx="129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Narrow delegation only</a:t>
            </a:r>
            <a:endParaRPr lang="en-US" sz="1400" dirty="0"/>
          </a:p>
        </p:txBody>
      </p:sp>
      <p:sp>
        <p:nvSpPr>
          <p:cNvPr id="22" name="constraint body 4"/>
          <p:cNvSpPr txBox="1"/>
          <p:nvPr/>
        </p:nvSpPr>
        <p:spPr>
          <a:xfrm>
            <a:off x="5614416" y="260604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AD allows constrained, not unconstrained</a:t>
            </a:r>
            <a:endParaRPr lang="en-US" sz="1200" dirty="0"/>
          </a:p>
        </p:txBody>
      </p:sp>
      <p:sp>
        <p:nvSpPr>
          <p:cNvPr id="23" name="constraint card 5"/>
          <p:cNvSpPr/>
          <p:nvPr/>
        </p:nvSpPr>
        <p:spPr>
          <a:xfrm>
            <a:off x="7187184" y="1143000"/>
            <a:ext cx="1517904" cy="260604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24" name="constraint 5 circle"/>
          <p:cNvSpPr/>
          <p:nvPr/>
        </p:nvSpPr>
        <p:spPr>
          <a:xfrm>
            <a:off x="7671816" y="132588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5" name="constraint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4462" y="1468526"/>
            <a:ext cx="263347" cy="263347"/>
          </a:xfrm>
          <a:prstGeom prst="rect">
            <a:avLst/>
          </a:prstGeom>
        </p:spPr>
      </p:pic>
      <p:sp>
        <p:nvSpPr>
          <p:cNvPr id="26" name="constraint title 5"/>
          <p:cNvSpPr txBox="1"/>
          <p:nvPr/>
        </p:nvSpPr>
        <p:spPr>
          <a:xfrm>
            <a:off x="7296912" y="2011680"/>
            <a:ext cx="129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Multi-day jobs</a:t>
            </a:r>
            <a:endParaRPr lang="en-US" sz="1400" dirty="0"/>
          </a:p>
        </p:txBody>
      </p:sp>
      <p:sp>
        <p:nvSpPr>
          <p:cNvPr id="27" name="constraint body 5"/>
          <p:cNvSpPr txBox="1"/>
          <p:nvPr/>
        </p:nvSpPr>
        <p:spPr>
          <a:xfrm>
            <a:off x="7296912" y="260604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Tickets must refresh with nobody present</a:t>
            </a:r>
            <a:endParaRPr lang="en-US" sz="1200" dirty="0"/>
          </a:p>
        </p:txBody>
      </p:sp>
      <p:sp>
        <p:nvSpPr>
          <p:cNvPr id="28" name="problem takeaway"/>
          <p:cNvSpPr txBox="1"/>
          <p:nvPr/>
        </p:nvSpPr>
        <p:spPr>
          <a:xfrm>
            <a:off x="457200" y="3977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Yet jobs on every compute node must reach Hive and HDFS, which accept only Kerberos.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The idea: a trusted concierge buys specific ride tickets</a:t>
            </a:r>
            <a:endParaRPr lang="en-US" sz="2600" dirty="0"/>
          </a:p>
        </p:txBody>
      </p:sp>
      <p:sp>
        <p:nvSpPr>
          <p:cNvPr id="3" name="analogy card"/>
          <p:cNvSpPr/>
          <p:nvPr/>
        </p:nvSpPr>
        <p:spPr>
          <a:xfrm>
            <a:off x="457200" y="1097280"/>
            <a:ext cx="3931920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85800" y="12801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Amusement-park analogy</a:t>
            </a:r>
            <a:endParaRPr lang="en-US" sz="1600" dirty="0"/>
          </a:p>
        </p:txBody>
      </p:sp>
      <p:sp>
        <p:nvSpPr>
          <p:cNvPr id="5" name="analogy bullets"/>
          <p:cNvSpPr txBox="1"/>
          <p:nvPr/>
        </p:nvSpPr>
        <p:spPr>
          <a:xfrm>
            <a:off x="685800" y="1737360"/>
            <a:ext cx="3520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TGT = all-day wristband. Users never get one.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Service ticket = one ride. That's all users get.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Broker = concierge allowed to buy tickets for approved rides only.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Home directory = a locker every entrance can see into.</a:t>
            </a:r>
            <a:endParaRPr lang="en-US" sz="1400" dirty="0"/>
          </a:p>
        </p:txBody>
      </p:sp>
      <p:sp>
        <p:nvSpPr>
          <p:cNvPr id="6" name="idea step 1 circle"/>
          <p:cNvSpPr/>
          <p:nvPr/>
        </p:nvSpPr>
        <p:spPr>
          <a:xfrm>
            <a:off x="4754880" y="1170432"/>
            <a:ext cx="685800" cy="6858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7" name="idea step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3188" y="1348740"/>
            <a:ext cx="329184" cy="32918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623560" y="1143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One broker key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5623560" y="150876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Root daemon holds a single keytab</a:t>
            </a:r>
            <a:endParaRPr lang="en-US" sz="1300" dirty="0"/>
          </a:p>
        </p:txBody>
      </p:sp>
      <p:sp>
        <p:nvSpPr>
          <p:cNvPr id="10" name="idea step 2 circle"/>
          <p:cNvSpPr/>
          <p:nvPr/>
        </p:nvSpPr>
        <p:spPr>
          <a:xfrm>
            <a:off x="4754880" y="228600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dea step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3188" y="246430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23560" y="225856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Mint per user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5623560" y="2624328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AD issues service tickets on the user's behalf</a:t>
            </a:r>
            <a:endParaRPr lang="en-US" sz="1300" dirty="0"/>
          </a:p>
        </p:txBody>
      </p:sp>
      <p:sp>
        <p:nvSpPr>
          <p:cNvPr id="14" name="idea step 3 circle"/>
          <p:cNvSpPr/>
          <p:nvPr/>
        </p:nvSpPr>
        <p:spPr>
          <a:xfrm>
            <a:off x="4754880" y="3401568"/>
            <a:ext cx="685800" cy="6858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dea step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3188" y="3579876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623560" y="3374136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Drop in $HOME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5623560" y="3739896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Shared filesystem = every node already has it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Four Kerberos words you need first</a:t>
            </a:r>
            <a:endParaRPr lang="en-US" sz="2600" dirty="0"/>
          </a:p>
        </p:txBody>
      </p:sp>
      <p:sp>
        <p:nvSpPr>
          <p:cNvPr id="3" name="concept card 1"/>
          <p:cNvSpPr/>
          <p:nvPr/>
        </p:nvSpPr>
        <p:spPr>
          <a:xfrm>
            <a:off x="457200" y="1097280"/>
            <a:ext cx="402336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pic>
        <p:nvPicPr>
          <p:cNvPr id="4" name="concept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325880"/>
            <a:ext cx="411480" cy="4114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34440" y="132588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Keytab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 file holding a principal's long-term key. Lets a program authenticate with no password. The broker's keytab is the crown jewel.</a:t>
            </a:r>
            <a:endParaRPr lang="en-US" sz="1300" dirty="0"/>
          </a:p>
        </p:txBody>
      </p:sp>
      <p:sp>
        <p:nvSpPr>
          <p:cNvPr id="7" name="concept card 2"/>
          <p:cNvSpPr/>
          <p:nvPr/>
        </p:nvSpPr>
        <p:spPr>
          <a:xfrm>
            <a:off x="4663440" y="1097280"/>
            <a:ext cx="402336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pic>
        <p:nvPicPr>
          <p:cNvPr id="8" name="concept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25880"/>
            <a:ext cx="411480" cy="4114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40680" y="132588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TGT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4892040" y="182880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Ticket-Granting Ticket: used to get other tickets. Only the broker has one.</a:t>
            </a:r>
            <a:endParaRPr lang="en-US" sz="1300" dirty="0"/>
          </a:p>
        </p:txBody>
      </p:sp>
      <p:sp>
        <p:nvSpPr>
          <p:cNvPr id="11" name="concept card 3"/>
          <p:cNvSpPr/>
          <p:nvPr/>
        </p:nvSpPr>
        <p:spPr>
          <a:xfrm>
            <a:off x="457200" y="2788920"/>
            <a:ext cx="402336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pic>
        <p:nvPicPr>
          <p:cNvPr id="12" name="concept icon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17520"/>
            <a:ext cx="411480" cy="4114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34440" y="30175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Service ticket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685800" y="352044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Proves identity to one service (one SPN, e.g. hive/host@REALM). Users get only these.</a:t>
            </a:r>
            <a:endParaRPr lang="en-US" sz="1300" dirty="0"/>
          </a:p>
        </p:txBody>
      </p:sp>
      <p:sp>
        <p:nvSpPr>
          <p:cNvPr id="15" name="concept card 4"/>
          <p:cNvSpPr/>
          <p:nvPr/>
        </p:nvSpPr>
        <p:spPr>
          <a:xfrm>
            <a:off x="4663440" y="2788920"/>
            <a:ext cx="402336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pic>
        <p:nvPicPr>
          <p:cNvPr id="16" name="concept icon 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017520"/>
            <a:ext cx="411480" cy="41148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440680" y="30175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Credential cache</a:t>
            </a:r>
            <a:endParaRPr lang="en-US" sz="1700" dirty="0"/>
          </a:p>
        </p:txBody>
      </p:sp>
      <p:sp>
        <p:nvSpPr>
          <p:cNvPr id="18" name="Text 12"/>
          <p:cNvSpPr txBox="1"/>
          <p:nvPr/>
        </p:nvSpPr>
        <p:spPr>
          <a:xfrm>
            <a:off x="4892040" y="352044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File holding tickets in use. Programs find it via KRB5CCNAME=FILE:…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Constrained delegation in two steps</a:t>
            </a:r>
            <a:endParaRPr lang="en-US" sz="2600" dirty="0"/>
          </a:p>
        </p:txBody>
      </p:sp>
      <p:sp>
        <p:nvSpPr>
          <p:cNvPr id="3" name="s4u box 1"/>
          <p:cNvSpPr/>
          <p:nvPr/>
        </p:nvSpPr>
        <p:spPr>
          <a:xfrm>
            <a:off x="457200" y="1188720"/>
            <a:ext cx="1828800" cy="1188720"/>
          </a:xfrm>
          <a:prstGeom prst="roundRect">
            <a:avLst>
              <a:gd name="adj" fmla="val 7692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29844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Broker TGT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373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kinit -k -t broker.keytab</a:t>
            </a:r>
            <a:endParaRPr lang="en-US" sz="1200" dirty="0"/>
          </a:p>
        </p:txBody>
      </p:sp>
      <p:sp>
        <p:nvSpPr>
          <p:cNvPr id="6" name="s4u arrow 1"/>
          <p:cNvSpPr/>
          <p:nvPr/>
        </p:nvSpPr>
        <p:spPr>
          <a:xfrm>
            <a:off x="2322576" y="1645920"/>
            <a:ext cx="246888" cy="274320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7" name="s4u box 2"/>
          <p:cNvSpPr/>
          <p:nvPr/>
        </p:nvSpPr>
        <p:spPr>
          <a:xfrm>
            <a:off x="2606040" y="1188720"/>
            <a:ext cx="1828800" cy="1188720"/>
          </a:xfrm>
          <a:prstGeom prst="roundRect">
            <a:avLst>
              <a:gd name="adj" fmla="val 769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697480" y="129844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S4U2Self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697480" y="17373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“ticket for jdoe, to me”</a:t>
            </a:r>
            <a:endParaRPr lang="en-US" sz="1200" dirty="0"/>
          </a:p>
        </p:txBody>
      </p:sp>
      <p:sp>
        <p:nvSpPr>
          <p:cNvPr id="10" name="s4u arrow 2"/>
          <p:cNvSpPr/>
          <p:nvPr/>
        </p:nvSpPr>
        <p:spPr>
          <a:xfrm>
            <a:off x="4471416" y="1645920"/>
            <a:ext cx="246888" cy="274320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s4u box 3"/>
          <p:cNvSpPr/>
          <p:nvPr/>
        </p:nvSpPr>
        <p:spPr>
          <a:xfrm>
            <a:off x="4754880" y="1188720"/>
            <a:ext cx="1828800" cy="1188720"/>
          </a:xfrm>
          <a:prstGeom prst="roundRect">
            <a:avLst>
              <a:gd name="adj" fmla="val 769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46320" y="129844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S4U2Proxy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7373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“trade it for jdoe → Hive”</a:t>
            </a:r>
            <a:endParaRPr lang="en-US" sz="1200" dirty="0"/>
          </a:p>
        </p:txBody>
      </p:sp>
      <p:sp>
        <p:nvSpPr>
          <p:cNvPr id="14" name="s4u arrow 3"/>
          <p:cNvSpPr/>
          <p:nvPr/>
        </p:nvSpPr>
        <p:spPr>
          <a:xfrm>
            <a:off x="6620256" y="1645920"/>
            <a:ext cx="246888" cy="274320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s4u box 4"/>
          <p:cNvSpPr/>
          <p:nvPr/>
        </p:nvSpPr>
        <p:spPr>
          <a:xfrm>
            <a:off x="6903720" y="1188720"/>
            <a:ext cx="1828800" cy="1188720"/>
          </a:xfrm>
          <a:prstGeom prst="roundRect">
            <a:avLst>
              <a:gd name="adj" fmla="val 7692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95160" y="129844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Service tickets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995160" y="17373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hive/…, hdfs/… for jdoe</a:t>
            </a:r>
            <a:endParaRPr lang="en-US" sz="1200" dirty="0"/>
          </a:p>
        </p:txBody>
      </p:sp>
      <p:sp>
        <p:nvSpPr>
          <p:cNvPr id="18" name="kvno command panel"/>
          <p:cNvSpPr/>
          <p:nvPr/>
        </p:nvSpPr>
        <p:spPr>
          <a:xfrm>
            <a:off x="457200" y="2697480"/>
            <a:ext cx="8229600" cy="731520"/>
          </a:xfrm>
          <a:prstGeom prst="roundRect">
            <a:avLst>
              <a:gd name="adj" fmla="val 75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9" name="kvno command"/>
          <p:cNvSpPr txBox="1"/>
          <p:nvPr/>
        </p:nvSpPr>
        <p:spPr>
          <a:xfrm>
            <a:off x="594360" y="278892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kvno -c FILE:&lt;broker_cc&gt; --out-cache FILE:&lt;tmp&gt;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-U jdoe -P hive/hiveserver2.corp...@REALM hdfs/namenode.corp...@REALM</a:t>
            </a:r>
            <a:endParaRPr lang="en-US" sz="1200" dirty="0"/>
          </a:p>
        </p:txBody>
      </p:sp>
      <p:sp>
        <p:nvSpPr>
          <p:cNvPr id="20" name="s4u explanation"/>
          <p:cNvSpPr txBox="1"/>
          <p:nvPr/>
        </p:nvSpPr>
        <p:spPr>
          <a:xfrm>
            <a:off x="457200" y="36118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-U does S4U2Self, -P does S4U2Proxy.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AD only allows SPNs listed in the broker account's msDS-AllowedToDelegateTo — the same list as delegate_targets in credd.conf. No TGT is ever produced for the user.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End-to-end architecture</a:t>
            </a:r>
            <a:endParaRPr lang="en-US" sz="2600" dirty="0"/>
          </a:p>
        </p:txBody>
      </p:sp>
      <p:pic>
        <p:nvPicPr>
          <p:cNvPr id="3" name="system architecture diagram" descr="krb-credd system architecture with numbered fl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55064" y="914400"/>
            <a:ext cx="5833872" cy="3794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Inside the code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_krb.py  ·  credd.py  ·  get.py  ·  install helper  ·  Slurm hooks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Where the code lives</a:t>
            </a:r>
            <a:endParaRPr lang="en-US" sz="2600" dirty="0"/>
          </a:p>
        </p:txBody>
      </p:sp>
      <p:graphicFrame>
        <p:nvGraphicFramePr>
          <p:cNvPr id="3" name="lines of code chart" descr=""/>
          <p:cNvGraphicFramePr/>
          <p:nvPr/>
        </p:nvGraphicFramePr>
        <p:xfrm>
          <a:off x="457200" y="1005840"/>
          <a:ext cx="512064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akeaway card"/>
          <p:cNvSpPr/>
          <p:nvPr/>
        </p:nvSpPr>
        <p:spPr>
          <a:xfrm>
            <a:off x="5852160" y="1097280"/>
            <a:ext cx="2834640" cy="342900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6080760" y="12801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418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080760" y="2011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lines in the daemon — the heart of the system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080760" y="26974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6080760" y="34290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third-party Python dependencies for the core package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_krb.py: parse text, run tools safely</a:t>
            </a:r>
            <a:endParaRPr lang="en-US" sz="2600" dirty="0"/>
          </a:p>
        </p:txBody>
      </p:sp>
      <p:sp>
        <p:nvSpPr>
          <p:cNvPr id="3" name="krb function 1"/>
          <p:cNvSpPr/>
          <p:nvPr/>
        </p:nvSpPr>
        <p:spPr>
          <a:xfrm>
            <a:off x="457200" y="1051560"/>
            <a:ext cx="402336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0080" y="112471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duration_seconds()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3560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“10h” → 36000. Rejects bad config.</a:t>
            </a:r>
            <a:endParaRPr lang="en-US" sz="1300" dirty="0"/>
          </a:p>
        </p:txBody>
      </p:sp>
      <p:sp>
        <p:nvSpPr>
          <p:cNvPr id="6" name="krb function 2"/>
          <p:cNvSpPr/>
          <p:nvPr/>
        </p:nvSpPr>
        <p:spPr>
          <a:xfrm>
            <a:off x="457200" y="1892808"/>
            <a:ext cx="402336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40080" y="196596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parse_klist()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27685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Broker TGT expiry + renew-until</a:t>
            </a:r>
            <a:endParaRPr lang="en-US" sz="1300" dirty="0"/>
          </a:p>
        </p:txBody>
      </p:sp>
      <p:sp>
        <p:nvSpPr>
          <p:cNvPr id="9" name="krb function 3"/>
          <p:cNvSpPr/>
          <p:nvPr/>
        </p:nvSpPr>
        <p:spPr>
          <a:xfrm>
            <a:off x="457200" y="2734056"/>
            <a:ext cx="402336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40080" y="280720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earliest_expiry()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11810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First expiring ticket in a user's cache</a:t>
            </a:r>
            <a:endParaRPr lang="en-US" sz="1300" dirty="0"/>
          </a:p>
        </p:txBody>
      </p:sp>
      <p:sp>
        <p:nvSpPr>
          <p:cNvPr id="12" name="krb function 4"/>
          <p:cNvSpPr/>
          <p:nvPr/>
        </p:nvSpPr>
        <p:spPr>
          <a:xfrm>
            <a:off x="457200" y="3575304"/>
            <a:ext cx="402336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0080" y="364845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Krb5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959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kinit · kinit -R · klist · kvno (S4U)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754880" y="10515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Clean environment for every tool call</a:t>
            </a:r>
            <a:endParaRPr lang="en-US" sz="1600" dirty="0"/>
          </a:p>
        </p:txBody>
      </p:sp>
      <p:sp>
        <p:nvSpPr>
          <p:cNvPr id="16" name="scrub code panel"/>
          <p:cNvSpPr/>
          <p:nvPr/>
        </p:nvSpPr>
        <p:spPr>
          <a:xfrm>
            <a:off x="4754880" y="1508760"/>
            <a:ext cx="3931920" cy="1554480"/>
          </a:xfrm>
          <a:prstGeom prst="roundRect">
            <a:avLst>
              <a:gd name="adj" fmla="val 352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7" name="scrub code"/>
          <p:cNvSpPr txBox="1"/>
          <p:nvPr/>
        </p:nvSpPr>
        <p:spPr>
          <a:xfrm>
            <a:off x="4892040" y="16002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_SCRUB = ("LD_PRELOAD", "LD_AUDIT",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"KRB5CCNAME", "KRB5_KTNAME",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"KRB5_TRACE")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env["KRB5_CONFIG"] = krb5_conf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env["LC_ALL"] = "C"</a:t>
            </a:r>
            <a:endParaRPr lang="en-US" sz="1200" dirty="0"/>
          </a:p>
        </p:txBody>
      </p:sp>
      <p:sp>
        <p:nvSpPr>
          <p:cNvPr id="18" name="scrub explanation"/>
          <p:cNvSpPr txBox="1"/>
          <p:nvPr/>
        </p:nvSpPr>
        <p:spPr>
          <a:xfrm>
            <a:off x="4754880" y="3200400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 root daemon must not inherit code-injection or ticket-redirect variables. The C locale makes klist dates parseable. Commands are passed as argument lists — no shell, no injection.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credd.py: six building blocks</a:t>
            </a:r>
            <a:endParaRPr lang="en-US" sz="2600" dirty="0"/>
          </a:p>
        </p:txBody>
      </p:sp>
      <p:sp>
        <p:nvSpPr>
          <p:cNvPr id="3" name="class card Config"/>
          <p:cNvSpPr/>
          <p:nvPr/>
        </p:nvSpPr>
        <p:spPr>
          <a:xfrm>
            <a:off x="457200" y="105156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4" name="class Config circle"/>
          <p:cNvSpPr/>
          <p:nvPr/>
        </p:nvSpPr>
        <p:spPr>
          <a:xfrm>
            <a:off x="640080" y="12344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class Config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0839" y="1365199"/>
            <a:ext cx="241402" cy="24140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29844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8745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Loads credd.conf after checking it is root-owned and not writable by others</a:t>
            </a:r>
            <a:endParaRPr lang="en-US" sz="1200" dirty="0"/>
          </a:p>
        </p:txBody>
      </p:sp>
      <p:sp>
        <p:nvSpPr>
          <p:cNvPr id="8" name="class card UidMap"/>
          <p:cNvSpPr/>
          <p:nvPr/>
        </p:nvSpPr>
        <p:spPr>
          <a:xfrm>
            <a:off x="3246120" y="105156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9" name="class UidMap circle"/>
          <p:cNvSpPr/>
          <p:nvPr/>
        </p:nvSpPr>
        <p:spPr>
          <a:xfrm>
            <a:off x="3429000" y="12344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class UidMa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9759" y="1365199"/>
            <a:ext cx="241402" cy="24140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69080" y="129844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UidMap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429000" y="18745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uidmap.conf: Linux user → real AD user. Reloads when the file changes</a:t>
            </a:r>
            <a:endParaRPr lang="en-US" sz="1200" dirty="0"/>
          </a:p>
        </p:txBody>
      </p:sp>
      <p:sp>
        <p:nvSpPr>
          <p:cNvPr id="13" name="class card TicketManager"/>
          <p:cNvSpPr/>
          <p:nvPr/>
        </p:nvSpPr>
        <p:spPr>
          <a:xfrm>
            <a:off x="6035040" y="105156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BEFDC"/>
          </a:solidFill>
          <a:ln w="12700">
            <a:solidFill>
              <a:srgbClr val="FBEFDC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14" name="class TicketManager circle"/>
          <p:cNvSpPr/>
          <p:nvPr/>
        </p:nvSpPr>
        <p:spPr>
          <a:xfrm>
            <a:off x="6217920" y="12344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class TicketManager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8679" y="1365199"/>
            <a:ext cx="241402" cy="24140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858000" y="129844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TicketManager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217920" y="18745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Broker TGT, mint, install, refresh loop — all credential logic</a:t>
            </a:r>
            <a:endParaRPr lang="en-US" sz="1200" dirty="0"/>
          </a:p>
        </p:txBody>
      </p:sp>
      <p:sp>
        <p:nvSpPr>
          <p:cNvPr id="18" name="class card Handler"/>
          <p:cNvSpPr/>
          <p:nvPr/>
        </p:nvSpPr>
        <p:spPr>
          <a:xfrm>
            <a:off x="457200" y="283464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19" name="class Handler circle"/>
          <p:cNvSpPr/>
          <p:nvPr/>
        </p:nvSpPr>
        <p:spPr>
          <a:xfrm>
            <a:off x="640080" y="30175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class Handler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839" y="3148279"/>
            <a:ext cx="241402" cy="24140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80160" y="30815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Handler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640080" y="36576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One socket request: read UID from kernel, accept only GET</a:t>
            </a:r>
            <a:endParaRPr lang="en-US" sz="1200" dirty="0"/>
          </a:p>
        </p:txBody>
      </p:sp>
      <p:sp>
        <p:nvSpPr>
          <p:cNvPr id="23" name="class card Server"/>
          <p:cNvSpPr/>
          <p:nvPr/>
        </p:nvSpPr>
        <p:spPr>
          <a:xfrm>
            <a:off x="3246120" y="283464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24" name="class Server circle"/>
          <p:cNvSpPr/>
          <p:nvPr/>
        </p:nvSpPr>
        <p:spPr>
          <a:xfrm>
            <a:off x="3429000" y="30175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5" name="class Server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9759" y="3148279"/>
            <a:ext cx="241402" cy="24140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069080" y="30815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3429000" y="36576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Threaded UNIX-socket server, capped at 32 requests</a:t>
            </a:r>
            <a:endParaRPr lang="en-US" sz="1200" dirty="0"/>
          </a:p>
        </p:txBody>
      </p:sp>
      <p:sp>
        <p:nvSpPr>
          <p:cNvPr id="28" name="class card main()"/>
          <p:cNvSpPr/>
          <p:nvPr/>
        </p:nvSpPr>
        <p:spPr>
          <a:xfrm>
            <a:off x="6035040" y="283464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29" name="class main() circle"/>
          <p:cNvSpPr/>
          <p:nvPr/>
        </p:nvSpPr>
        <p:spPr>
          <a:xfrm>
            <a:off x="6217920" y="30175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0" name="class main()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48679" y="3148279"/>
            <a:ext cx="241402" cy="24140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58000" y="30815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main()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6217920" y="36576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Root check, umask 077, start refresh thread, serve forever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Keeping the one broker credential alive</a:t>
            </a:r>
            <a:endParaRPr lang="en-US" sz="2600" dirty="0"/>
          </a:p>
        </p:txBody>
      </p:sp>
      <p:sp>
        <p:nvSpPr>
          <p:cNvPr id="3" name="broker case 1"/>
          <p:cNvSpPr/>
          <p:nvPr/>
        </p:nvSpPr>
        <p:spPr>
          <a:xfrm>
            <a:off x="457200" y="105156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4" name="broker case 1 circle"/>
          <p:cNvSpPr/>
          <p:nvPr/>
        </p:nvSpPr>
        <p:spPr>
          <a:xfrm>
            <a:off x="1435608" y="1234440"/>
            <a:ext cx="640080" cy="6400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broker case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2029" y="1400861"/>
            <a:ext cx="307238" cy="30723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19659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Case 1: Still good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3774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Expires more than 1 hour away (renew_margin)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92608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→ do nothing</a:t>
            </a:r>
            <a:endParaRPr lang="en-US" sz="1200" dirty="0"/>
          </a:p>
        </p:txBody>
      </p:sp>
      <p:sp>
        <p:nvSpPr>
          <p:cNvPr id="9" name="broker case 2"/>
          <p:cNvSpPr/>
          <p:nvPr/>
        </p:nvSpPr>
        <p:spPr>
          <a:xfrm>
            <a:off x="3246120" y="105156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10" name="broker case 2 circle"/>
          <p:cNvSpPr/>
          <p:nvPr/>
        </p:nvSpPr>
        <p:spPr>
          <a:xfrm>
            <a:off x="4224528" y="12344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broker case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0949" y="140086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383280" y="19659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Case 2: Renew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3429000" y="23774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Near expiry, still renewable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3429000" y="292608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→ kinit -R</a:t>
            </a:r>
            <a:endParaRPr lang="en-US" sz="1200" dirty="0"/>
          </a:p>
        </p:txBody>
      </p:sp>
      <p:sp>
        <p:nvSpPr>
          <p:cNvPr id="15" name="broker case 3"/>
          <p:cNvSpPr/>
          <p:nvPr/>
        </p:nvSpPr>
        <p:spPr>
          <a:xfrm>
            <a:off x="6035040" y="105156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16" name="broker case 3 circle"/>
          <p:cNvSpPr/>
          <p:nvPr/>
        </p:nvSpPr>
        <p:spPr>
          <a:xfrm>
            <a:off x="7013448" y="123444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broker case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9869" y="1400861"/>
            <a:ext cx="307238" cy="30723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172200" y="19659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Case 3: Re-acquire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6217920" y="23774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Missing, or renewal impossible or failed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6217920" y="292608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→ kinit from keytab into temp file, chmod 600, atomic rename</a:t>
            </a:r>
            <a:endParaRPr lang="en-US" sz="1200" dirty="0"/>
          </a:p>
        </p:txBody>
      </p:sp>
      <p:sp>
        <p:nvSpPr>
          <p:cNvPr id="21" name="broker takeaway"/>
          <p:cNvSpPr txBox="1"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Called before every mint, under a lock — this is the “unattended renewal engine” that makes multi-day jobs possible.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One request: ensure, then mint, then install</a:t>
            </a:r>
            <a:endParaRPr lang="en-US" sz="2600" dirty="0"/>
          </a:p>
        </p:txBody>
      </p:sp>
      <p:sp>
        <p:nvSpPr>
          <p:cNvPr id="3" name="flow num 1"/>
          <p:cNvSpPr/>
          <p:nvPr/>
        </p:nvSpPr>
        <p:spPr>
          <a:xfrm>
            <a:off x="457200" y="116128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612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09728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ensure()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4630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Enrolled? Lock this user. Cache missing or near expiry?</a:t>
            </a:r>
            <a:endParaRPr lang="en-US" sz="1200" dirty="0"/>
          </a:p>
        </p:txBody>
      </p:sp>
      <p:sp>
        <p:nvSpPr>
          <p:cNvPr id="7" name="flow num 2"/>
          <p:cNvSpPr/>
          <p:nvPr/>
        </p:nvSpPr>
        <p:spPr>
          <a:xfrm>
            <a:off x="457200" y="22128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2128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14884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_mint()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5146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kvno S4U into temp file, 0600, atomic rename to master copy</a:t>
            </a:r>
            <a:endParaRPr lang="en-US" sz="1200" dirty="0"/>
          </a:p>
        </p:txBody>
      </p:sp>
      <p:sp>
        <p:nvSpPr>
          <p:cNvPr id="11" name="flow num 3"/>
          <p:cNvSpPr/>
          <p:nvPr/>
        </p:nvSpPr>
        <p:spPr>
          <a:xfrm>
            <a:off x="457200" y="326440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2644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320040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_install()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5661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setpriv as the user, helper writes $HOME/.krb5/krb5cc_hpc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10515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Why write as the user?</a:t>
            </a:r>
            <a:endParaRPr lang="en-US" sz="1600" dirty="0"/>
          </a:p>
        </p:txBody>
      </p:sp>
      <p:sp>
        <p:nvSpPr>
          <p:cNvPr id="16" name="setpriv code panel"/>
          <p:cNvSpPr/>
          <p:nvPr/>
        </p:nvSpPr>
        <p:spPr>
          <a:xfrm>
            <a:off x="4572000" y="1463040"/>
            <a:ext cx="4114800" cy="1508760"/>
          </a:xfrm>
          <a:prstGeom prst="roundRect">
            <a:avLst>
              <a:gd name="adj" fmla="val 363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7" name="setpriv code"/>
          <p:cNvSpPr txBox="1"/>
          <p:nvPr/>
        </p:nvSpPr>
        <p:spPr>
          <a:xfrm>
            <a:off x="4709160" y="1554480"/>
            <a:ext cx="3840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setpriv --reuid=&lt;uid&gt; --regid=&lt;gid&gt;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--init-groups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--inh-caps=-all --bounding-set=-all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--no-new-privs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krb-install-ccache &lt;dest&gt;</a:t>
            </a:r>
            <a:endParaRPr lang="en-US" sz="1200" dirty="0"/>
          </a:p>
        </p:txBody>
      </p:sp>
      <p:sp>
        <p:nvSpPr>
          <p:cNvPr id="18" name="why as user"/>
          <p:cNvSpPr txBox="1"/>
          <p:nvPr/>
        </p:nvSpPr>
        <p:spPr>
          <a:xfrm>
            <a:off x="4572000" y="3108960"/>
            <a:ext cx="411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Root may be “squashed” on shared homes.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Root writing into a user-controlled folder invites symlink tricks.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Temp file + rename: nodes never see half a file.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The front door: a UNIX socket that can't be fooled</a:t>
            </a:r>
            <a:endParaRPr lang="en-US" sz="2600" dirty="0"/>
          </a:p>
        </p:txBody>
      </p:sp>
      <p:sp>
        <p:nvSpPr>
          <p:cNvPr id="3" name="client code panel"/>
          <p:cNvSpPr/>
          <p:nvPr/>
        </p:nvSpPr>
        <p:spPr>
          <a:xfrm>
            <a:off x="457200" y="1051560"/>
            <a:ext cx="4023360" cy="1371600"/>
          </a:xfrm>
          <a:prstGeom prst="roundRect">
            <a:avLst>
              <a:gd name="adj" fmla="val 4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lient code"/>
          <p:cNvSpPr txBox="1"/>
          <p:nvPr/>
        </p:nvSpPr>
        <p:spPr>
          <a:xfrm>
            <a:off x="594360" y="114300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get.py (the user)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s.connect("/run/krb-hpc/credd.sock")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s.sendall(b"GET\n")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→ "OK /home/jdoe/.krb5/krb5cc_hpc"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print("export KRB5CCNAME=FILE:...")</a:t>
            </a:r>
            <a:endParaRPr lang="en-US" sz="1200" dirty="0"/>
          </a:p>
        </p:txBody>
      </p:sp>
      <p:sp>
        <p:nvSpPr>
          <p:cNvPr id="5" name="server code panel"/>
          <p:cNvSpPr/>
          <p:nvPr/>
        </p:nvSpPr>
        <p:spPr>
          <a:xfrm>
            <a:off x="4663440" y="1051560"/>
            <a:ext cx="4023360" cy="1371600"/>
          </a:xfrm>
          <a:prstGeom prst="roundRect">
            <a:avLst>
              <a:gd name="adj" fmla="val 4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server code"/>
          <p:cNvSpPr txBox="1"/>
          <p:nvPr/>
        </p:nvSpPr>
        <p:spPr>
          <a:xfrm>
            <a:off x="4800600" y="114300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credd.py Handler (root)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creds = getsockopt(SOL_SOCKET,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SO_PEERCRED, 12)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pid, uid, gid = unpack("3i", creds)</a:t>
            </a:r>
            <a:endParaRPr lang="en-US" sz="1200" dirty="0"/>
          </a:p>
        </p:txBody>
      </p:sp>
      <p:sp>
        <p:nvSpPr>
          <p:cNvPr id="7" name="socket point 1 circle"/>
          <p:cNvSpPr/>
          <p:nvPr/>
        </p:nvSpPr>
        <p:spPr>
          <a:xfrm>
            <a:off x="457200" y="27432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socket point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959" y="2873959"/>
            <a:ext cx="241402" cy="24140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097280" y="274320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Kernel says who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097280" y="3081528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UID comes from SO_PEERCRED, never the request</a:t>
            </a:r>
            <a:endParaRPr lang="en-US" sz="1300" dirty="0"/>
          </a:p>
        </p:txBody>
      </p:sp>
      <p:sp>
        <p:nvSpPr>
          <p:cNvPr id="11" name="socket point 2 circle"/>
          <p:cNvSpPr/>
          <p:nvPr/>
        </p:nvSpPr>
        <p:spPr>
          <a:xfrm>
            <a:off x="3246120" y="27432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socket point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6879" y="2873959"/>
            <a:ext cx="241402" cy="24140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886200" y="274320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Own tickets only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886200" y="3081528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Socket is 0666 — anyone may connect, nobody can ask for someone else</a:t>
            </a:r>
            <a:endParaRPr lang="en-US" sz="1300" dirty="0"/>
          </a:p>
        </p:txBody>
      </p:sp>
      <p:sp>
        <p:nvSpPr>
          <p:cNvPr id="15" name="socket point 3 circle"/>
          <p:cNvSpPr/>
          <p:nvPr/>
        </p:nvSpPr>
        <p:spPr>
          <a:xfrm>
            <a:off x="6035040" y="27432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socket point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5799" y="2873959"/>
            <a:ext cx="241402" cy="24140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675120" y="274320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Bounded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6675120" y="3081528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32 slots · 10 s timeout · 256 bytes max · 10 s re-copy throttle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Why tickets never expire mid-job</a:t>
            </a:r>
            <a:endParaRPr lang="en-US" sz="2600" dirty="0"/>
          </a:p>
        </p:txBody>
      </p:sp>
      <p:sp>
        <p:nvSpPr>
          <p:cNvPr id="3" name="stat 1"/>
          <p:cNvSpPr/>
          <p:nvPr/>
        </p:nvSpPr>
        <p:spPr>
          <a:xfrm>
            <a:off x="457200" y="1051560"/>
            <a:ext cx="192024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457200" y="11430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min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refresh loop period</a:t>
            </a:r>
            <a:endParaRPr lang="en-US" sz="1200" dirty="0"/>
          </a:p>
        </p:txBody>
      </p:sp>
      <p:sp>
        <p:nvSpPr>
          <p:cNvPr id="6" name="stat 2"/>
          <p:cNvSpPr/>
          <p:nvPr/>
        </p:nvSpPr>
        <p:spPr>
          <a:xfrm>
            <a:off x="2560320" y="1051560"/>
            <a:ext cx="192024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2560320" y="11430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h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8288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re-mint before expiry</a:t>
            </a:r>
            <a:endParaRPr lang="en-US" sz="1200" dirty="0"/>
          </a:p>
        </p:txBody>
      </p:sp>
      <p:sp>
        <p:nvSpPr>
          <p:cNvPr id="9" name="stat 3"/>
          <p:cNvSpPr/>
          <p:nvPr/>
        </p:nvSpPr>
        <p:spPr>
          <a:xfrm>
            <a:off x="4663440" y="1051560"/>
            <a:ext cx="192024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663440" y="11430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h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4754880" y="18288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ticket lifetime</a:t>
            </a:r>
            <a:endParaRPr lang="en-US" sz="1200" dirty="0"/>
          </a:p>
        </p:txBody>
      </p:sp>
      <p:sp>
        <p:nvSpPr>
          <p:cNvPr id="12" name="stat 4"/>
          <p:cNvSpPr/>
          <p:nvPr/>
        </p:nvSpPr>
        <p:spPr>
          <a:xfrm>
            <a:off x="6766560" y="1051560"/>
            <a:ext cx="192024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766560" y="11430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d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0" y="18288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active window after krb-get</a:t>
            </a:r>
            <a:endParaRPr lang="en-US" sz="1200" dirty="0"/>
          </a:p>
        </p:txBody>
      </p:sp>
      <p:sp>
        <p:nvSpPr>
          <p:cNvPr id="15" name="squeue code panel"/>
          <p:cNvSpPr/>
          <p:nvPr/>
        </p:nvSpPr>
        <p:spPr>
          <a:xfrm>
            <a:off x="457200" y="2651760"/>
            <a:ext cx="4023360" cy="4572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6" name="squeue code"/>
          <p:cNvSpPr txBox="1"/>
          <p:nvPr/>
        </p:nvSpPr>
        <p:spPr>
          <a:xfrm>
            <a:off x="594360" y="27432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squeue -h -a -t PD,CF,R,CG -o %U</a:t>
            </a:r>
            <a:endParaRPr lang="en-US" sz="1300" dirty="0"/>
          </a:p>
        </p:txBody>
      </p:sp>
      <p:sp>
        <p:nvSpPr>
          <p:cNvPr id="17" name="refresh explanation"/>
          <p:cNvSpPr txBox="1"/>
          <p:nvPr/>
        </p:nvSpPr>
        <p:spPr>
          <a:xfrm>
            <a:off x="457200" y="324612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Every pass refreshes the union of recent krb-get users and everyone with a pending, configuring, running or completing job — so a job submitted from cron, never touching a shell, still gets tickets.</a:t>
            </a:r>
            <a:endParaRPr lang="en-US" sz="1300" dirty="0"/>
          </a:p>
        </p:txBody>
      </p:sp>
      <p:sp>
        <p:nvSpPr>
          <p:cNvPr id="18" name="renew note"/>
          <p:cNvSpPr txBox="1"/>
          <p:nvPr/>
        </p:nvSpPr>
        <p:spPr>
          <a:xfrm>
            <a:off x="4663440" y="265176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Service tickets can't be renewed — only replaced. The daemon re-mints them with a fresh S4U call; only the broker's own TGT is renewed.</a:t>
            </a:r>
            <a:endParaRPr lang="en-US" sz="1300" dirty="0"/>
          </a:p>
        </p:txBody>
      </p:sp>
      <p:sp>
        <p:nvSpPr>
          <p:cNvPr id="19" name="idle note"/>
          <p:cNvSpPr txBox="1"/>
          <p:nvPr/>
        </p:nvSpPr>
        <p:spPr>
          <a:xfrm>
            <a:off x="4663440" y="361188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Idle for 7 days? The master copy is deleted; the copy in $HOME simply expires.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Getting tickets to 1,000 nodes: one line</a:t>
            </a:r>
            <a:endParaRPr lang="en-US" sz="2600" dirty="0"/>
          </a:p>
        </p:txBody>
      </p:sp>
      <p:sp>
        <p:nvSpPr>
          <p:cNvPr id="3" name="taskprolog code panel"/>
          <p:cNvSpPr/>
          <p:nvPr/>
        </p:nvSpPr>
        <p:spPr>
          <a:xfrm>
            <a:off x="457200" y="1051560"/>
            <a:ext cx="4754880" cy="1691640"/>
          </a:xfrm>
          <a:prstGeom prst="roundRect">
            <a:avLst>
              <a:gd name="adj" fmla="val 324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taskprolog code"/>
          <p:cNvSpPr txBox="1"/>
          <p:nvPr/>
        </p:nvSpPr>
        <p:spPr>
          <a:xfrm>
            <a:off x="594360" y="1143000"/>
            <a:ext cx="44805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slurm/taskprolog.krb.sh — runs as the user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cc="${HOME}/.krb5/krb5cc_hpc"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[[ -s "$cc" ]]; then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echo "export KRB5CCNAME=FILE:${cc}"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</a:t>
            </a:r>
            <a:endParaRPr lang="en-US" sz="1200" dirty="0"/>
          </a:p>
        </p:txBody>
      </p:sp>
      <p:sp>
        <p:nvSpPr>
          <p:cNvPr id="5" name="slurm conf line"/>
          <p:cNvSpPr txBox="1"/>
          <p:nvPr/>
        </p:nvSpPr>
        <p:spPr>
          <a:xfrm>
            <a:off x="457200" y="28803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slurm.conf:  TaskProlog=/etc/slurm/taskprolog.krb.sh</a:t>
            </a:r>
            <a:endParaRPr lang="en-US" sz="1100" dirty="0"/>
          </a:p>
        </p:txBody>
      </p:sp>
      <p:sp>
        <p:nvSpPr>
          <p:cNvPr id="6" name="compute explanation"/>
          <p:cNvSpPr txBox="1"/>
          <p:nvPr/>
        </p:nvSpPr>
        <p:spPr>
          <a:xfrm>
            <a:off x="457200" y="33832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 SPANK plugin, no KCM, no node daemon, no copy step. The home directory is already mounted everywhere; Slurm adds the printed export line to the task's environment.</a:t>
            </a:r>
            <a:endParaRPr lang="en-US" sz="1400" dirty="0"/>
          </a:p>
        </p:txBody>
      </p:sp>
      <p:sp>
        <p:nvSpPr>
          <p:cNvPr id="7" name="nodes card"/>
          <p:cNvSpPr/>
          <p:nvPr/>
        </p:nvSpPr>
        <p:spPr>
          <a:xfrm>
            <a:off x="5486400" y="1051560"/>
            <a:ext cx="3200400" cy="333756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8" name="shared home circle"/>
          <p:cNvSpPr/>
          <p:nvPr/>
        </p:nvSpPr>
        <p:spPr>
          <a:xfrm>
            <a:off x="6720840" y="123444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shared hom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11035" y="1424635"/>
            <a:ext cx="351130" cy="35113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577840" y="20574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$HOME/.krb5/krb5cc_hpc</a:t>
            </a:r>
            <a:endParaRPr lang="en-US" sz="1200" dirty="0"/>
          </a:p>
        </p:txBody>
      </p:sp>
      <p:sp>
        <p:nvSpPr>
          <p:cNvPr id="11" name="node 1 circle"/>
          <p:cNvSpPr/>
          <p:nvPr/>
        </p:nvSpPr>
        <p:spPr>
          <a:xfrm>
            <a:off x="5760720" y="26060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node 1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3366" y="2748686"/>
            <a:ext cx="263347" cy="263347"/>
          </a:xfrm>
          <a:prstGeom prst="rect">
            <a:avLst/>
          </a:prstGeom>
        </p:spPr>
      </p:pic>
      <p:sp>
        <p:nvSpPr>
          <p:cNvPr id="13" name="node 2 circle"/>
          <p:cNvSpPr/>
          <p:nvPr/>
        </p:nvSpPr>
        <p:spPr>
          <a:xfrm>
            <a:off x="6473952" y="26060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node 2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598" y="2748686"/>
            <a:ext cx="263347" cy="263347"/>
          </a:xfrm>
          <a:prstGeom prst="rect">
            <a:avLst/>
          </a:prstGeom>
        </p:spPr>
      </p:pic>
      <p:sp>
        <p:nvSpPr>
          <p:cNvPr id="15" name="node 3 circle"/>
          <p:cNvSpPr/>
          <p:nvPr/>
        </p:nvSpPr>
        <p:spPr>
          <a:xfrm>
            <a:off x="7187184" y="26060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node 3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9830" y="2748686"/>
            <a:ext cx="263347" cy="263347"/>
          </a:xfrm>
          <a:prstGeom prst="rect">
            <a:avLst/>
          </a:prstGeom>
        </p:spPr>
      </p:pic>
      <p:sp>
        <p:nvSpPr>
          <p:cNvPr id="17" name="node 4 circle"/>
          <p:cNvSpPr/>
          <p:nvPr/>
        </p:nvSpPr>
        <p:spPr>
          <a:xfrm>
            <a:off x="7900416" y="26060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8" name="node 4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3062" y="2748686"/>
            <a:ext cx="263347" cy="263347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577840" y="32918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cn001 … cnNNN read the same file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5577840" y="36576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0700 folder · 0600 file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Defense in depth, line by line</a:t>
            </a:r>
            <a:endParaRPr lang="en-US" sz="2600" dirty="0"/>
          </a:p>
        </p:txBody>
      </p:sp>
      <p:sp>
        <p:nvSpPr>
          <p:cNvPr id="3" name="defense 1 circle"/>
          <p:cNvSpPr/>
          <p:nvPr/>
        </p:nvSpPr>
        <p:spPr>
          <a:xfrm>
            <a:off x="457200" y="11430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4" name="defense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9846" y="1285646"/>
            <a:ext cx="263347" cy="26334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88720" y="112471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Identity from kernel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88720" y="149047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SO_PEERCRED · credd.py 352–354</a:t>
            </a:r>
            <a:endParaRPr lang="en-US" sz="1200" dirty="0"/>
          </a:p>
        </p:txBody>
      </p:sp>
      <p:sp>
        <p:nvSpPr>
          <p:cNvPr id="7" name="defense 2 circle"/>
          <p:cNvSpPr/>
          <p:nvPr/>
        </p:nvSpPr>
        <p:spPr>
          <a:xfrm>
            <a:off x="4663440" y="11430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defense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6086" y="1285646"/>
            <a:ext cx="263347" cy="26334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394960" y="112471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Write as the user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5394960" y="149047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setpriv, no caps, no-new-privs · 264–267</a:t>
            </a:r>
            <a:endParaRPr lang="en-US" sz="1200" dirty="0"/>
          </a:p>
        </p:txBody>
      </p:sp>
      <p:sp>
        <p:nvSpPr>
          <p:cNvPr id="11" name="defense 3 circle"/>
          <p:cNvSpPr/>
          <p:nvPr/>
        </p:nvSpPr>
        <p:spPr>
          <a:xfrm>
            <a:off x="457200" y="22860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defense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846" y="2428646"/>
            <a:ext cx="263347" cy="263347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88720" y="226771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Fail closed on tampering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188720" y="263347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_assert_secure · keytab must be 0600</a:t>
            </a:r>
            <a:endParaRPr lang="en-US" sz="1200" dirty="0"/>
          </a:p>
        </p:txBody>
      </p:sp>
      <p:sp>
        <p:nvSpPr>
          <p:cNvPr id="15" name="defense 4 circle"/>
          <p:cNvSpPr/>
          <p:nvPr/>
        </p:nvSpPr>
        <p:spPr>
          <a:xfrm>
            <a:off x="4663440" y="22860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defense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6086" y="2428646"/>
            <a:ext cx="263347" cy="26334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394960" y="226771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Scrubbed tool environment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5394960" y="263347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no LD_PRELOAD, KRB5CCNAME… · _krb.py 84–96</a:t>
            </a:r>
            <a:endParaRPr lang="en-US" sz="1200" dirty="0"/>
          </a:p>
        </p:txBody>
      </p:sp>
      <p:sp>
        <p:nvSpPr>
          <p:cNvPr id="19" name="defense 5 circle"/>
          <p:cNvSpPr/>
          <p:nvPr/>
        </p:nvSpPr>
        <p:spPr>
          <a:xfrm>
            <a:off x="457200" y="34290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defense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846" y="3571646"/>
            <a:ext cx="263347" cy="263347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188720" y="341071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Atomic everywhere</a:t>
            </a:r>
            <a:endParaRPr lang="en-US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1188720" y="377647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temp file + os.replace</a:t>
            </a:r>
            <a:endParaRPr lang="en-US" sz="1200" dirty="0"/>
          </a:p>
        </p:txBody>
      </p:sp>
      <p:sp>
        <p:nvSpPr>
          <p:cNvPr id="23" name="defense 6 circle"/>
          <p:cNvSpPr/>
          <p:nvPr/>
        </p:nvSpPr>
        <p:spPr>
          <a:xfrm>
            <a:off x="4663440" y="34290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4" name="defense 6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6086" y="3571646"/>
            <a:ext cx="263347" cy="263347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5394960" y="341071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Sandboxed service</a:t>
            </a:r>
            <a:endParaRPr lang="en-US" sz="1500" dirty="0"/>
          </a:p>
        </p:txBody>
      </p:sp>
      <p:sp>
        <p:nvSpPr>
          <p:cNvPr id="26" name="Text 18"/>
          <p:cNvSpPr txBox="1"/>
          <p:nvPr/>
        </p:nvSpPr>
        <p:spPr>
          <a:xfrm>
            <a:off x="5394960" y="377647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systemd: read-only OS, syscall filter, few capabilities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The two honest trade-offs</a:t>
            </a:r>
            <a:endParaRPr lang="en-US" sz="2600" dirty="0"/>
          </a:p>
        </p:txBody>
      </p:sp>
      <p:sp>
        <p:nvSpPr>
          <p:cNvPr id="3" name="tradeoff card 1"/>
          <p:cNvSpPr/>
          <p:nvPr/>
        </p:nvSpPr>
        <p:spPr>
          <a:xfrm>
            <a:off x="457200" y="1051560"/>
            <a:ext cx="4023360" cy="338328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4" name="tradeoff 1 circle"/>
          <p:cNvSpPr/>
          <p:nvPr/>
        </p:nvSpPr>
        <p:spPr>
          <a:xfrm>
            <a:off x="685800" y="1234440"/>
            <a:ext cx="594360" cy="59436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5" name="tradeoff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0334" y="138897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2801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One keytab, concentrated risk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0116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Risk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28600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Easier to protect than N per-user keytabs, but a thief could mint allow-listed tickets as any eligible user.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2004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Mitigation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47472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HSM or gMSA key · tight allow-list · monitoring · backend authorization (Ranger)</a:t>
            </a:r>
            <a:endParaRPr lang="en-US" sz="1300" dirty="0"/>
          </a:p>
        </p:txBody>
      </p:sp>
      <p:sp>
        <p:nvSpPr>
          <p:cNvPr id="11" name="tradeoff card 2"/>
          <p:cNvSpPr/>
          <p:nvPr/>
        </p:nvSpPr>
        <p:spPr>
          <a:xfrm>
            <a:off x="4663440" y="1051560"/>
            <a:ext cx="4023360" cy="338328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12" name="tradeoff 2 circle"/>
          <p:cNvSpPr/>
          <p:nvPr/>
        </p:nvSpPr>
        <p:spPr>
          <a:xfrm>
            <a:off x="4892040" y="1234440"/>
            <a:ext cx="594360" cy="59436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3" name="tradeoff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6574" y="1388974"/>
            <a:ext cx="285293" cy="285293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623560" y="12801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Tickets on shared storage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892040" y="20116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Risk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228600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Anyone who can act as that UID on the filesystem (incl. root on NFS sec=sys) can read the cache.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4892040" y="32004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Mitigation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4892040" y="347472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sec=krb5p · root_squash · short lifetimes · 0700/0600 — and it's service tickets, not a TGT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Extension: from Kerberos ticket to lakeFS key</a:t>
            </a:r>
            <a:endParaRPr lang="en-US" sz="2600" dirty="0"/>
          </a:p>
        </p:txBody>
      </p:sp>
      <p:pic>
        <p:nvPicPr>
          <p:cNvPr id="3" name="lakeFS architecture diagram" descr="lakeFS S3A credential exchan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60120"/>
            <a:ext cx="5120640" cy="3200400"/>
          </a:xfrm>
          <a:prstGeom prst="rect">
            <a:avLst/>
          </a:prstGeom>
        </p:spPr>
      </p:pic>
      <p:sp>
        <p:nvSpPr>
          <p:cNvPr id="4" name="lakeFS steps"/>
          <p:cNvSpPr txBox="1"/>
          <p:nvPr/>
        </p:nvSpPr>
        <p:spPr>
          <a:xfrm>
            <a:off x="5760720" y="1005840"/>
            <a:ext cx="2926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chemeClr val="tx1"/>
                </a:solidFill>
              </a:rPr>
              <a:t>Spark executor's Java provider sends SPNEGO (Negotiate) to the broker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chemeClr val="tx1"/>
                </a:solidFill>
              </a:rPr>
              <a:t>Apache mod_auth_gssapi verifies it, passes the user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chemeClr val="tx1"/>
                </a:solidFill>
              </a:rPr>
              <a:t>Flask broker mints a key via the lakeFS API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chemeClr val="tx1"/>
                </a:solidFill>
              </a:rPr>
              <a:t>S3A signs requests with that key</a:t>
            </a:r>
            <a:endParaRPr lang="en-US" sz="1300" dirty="0"/>
          </a:p>
        </p:txBody>
      </p:sp>
      <p:sp>
        <p:nvSpPr>
          <p:cNvPr id="5" name="lakeFS caveat"/>
          <p:cNvSpPr txBox="1"/>
          <p:nvPr/>
        </p:nvSpPr>
        <p:spPr>
          <a:xfrm>
            <a:off x="5760720" y="374904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Check: keys are not deleted by the broker — confirm TTL support in your lakeFS.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What the tests prove — and what they don't</a:t>
            </a:r>
            <a:endParaRPr lang="en-US" sz="2600" dirty="0"/>
          </a:p>
        </p:txBody>
      </p:sp>
      <p:sp>
        <p:nvSpPr>
          <p:cNvPr id="3" name="verified card"/>
          <p:cNvSpPr/>
          <p:nvPr/>
        </p:nvSpPr>
        <p:spPr>
          <a:xfrm>
            <a:off x="457200" y="1051560"/>
            <a:ext cx="4023360" cy="2743200"/>
          </a:xfrm>
          <a:prstGeom prst="roundRect">
            <a:avLst>
              <a:gd name="adj" fmla="val 2667"/>
            </a:avLst>
          </a:prstGeom>
          <a:solidFill>
            <a:srgbClr val="E6F2EA"/>
          </a:solidFill>
          <a:ln w="12700">
            <a:solidFill>
              <a:srgbClr val="E6F2EA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4" name="verified circle"/>
          <p:cNvSpPr/>
          <p:nvPr/>
        </p:nvSpPr>
        <p:spPr>
          <a:xfrm>
            <a:off x="685800" y="123444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verified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559" y="1365199"/>
            <a:ext cx="241402" cy="24140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26187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Verified</a:t>
            </a:r>
            <a:endParaRPr lang="en-US" sz="1700" dirty="0"/>
          </a:p>
        </p:txBody>
      </p:sp>
      <p:sp>
        <p:nvSpPr>
          <p:cNvPr id="7" name="verified list"/>
          <p:cNvSpPr txBox="1"/>
          <p:nvPr/>
        </p:nvSpPr>
        <p:spPr>
          <a:xfrm>
            <a:off x="685800" y="187452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Parsing and fail-closed checks (14 unit tests, pass)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Broker TGT from one keytab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Well-formed S4U request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Install as user, 0600, service ticket only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4 simulated nodes + real GSSAPI accept</a:t>
            </a:r>
            <a:endParaRPr lang="en-US" sz="1400" dirty="0"/>
          </a:p>
        </p:txBody>
      </p:sp>
      <p:sp>
        <p:nvSpPr>
          <p:cNvPr id="8" name="not verified card"/>
          <p:cNvSpPr/>
          <p:nvPr/>
        </p:nvSpPr>
        <p:spPr>
          <a:xfrm>
            <a:off x="4663440" y="1051560"/>
            <a:ext cx="4023360" cy="2743200"/>
          </a:xfrm>
          <a:prstGeom prst="roundRect">
            <a:avLst>
              <a:gd name="adj" fmla="val 2667"/>
            </a:avLst>
          </a:prstGeom>
          <a:solidFill>
            <a:srgbClr val="F7E7E7"/>
          </a:solidFill>
          <a:ln w="12700">
            <a:solidFill>
              <a:srgbClr val="F7E7E7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9" name="not verified circle"/>
          <p:cNvSpPr/>
          <p:nvPr/>
        </p:nvSpPr>
        <p:spPr>
          <a:xfrm>
            <a:off x="4892040" y="123444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0" name="not verified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2799" y="1365199"/>
            <a:ext cx="241402" cy="24140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532120" y="126187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Not exercised</a:t>
            </a:r>
            <a:endParaRPr lang="en-US" sz="1700" dirty="0"/>
          </a:p>
        </p:txBody>
      </p:sp>
      <p:sp>
        <p:nvSpPr>
          <p:cNvPr id="12" name="not verified list"/>
          <p:cNvSpPr txBox="1"/>
          <p:nvPr/>
        </p:nvSpPr>
        <p:spPr>
          <a:xfrm>
            <a:off x="4892040" y="187452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Real AD delegation (test KDC can't store the allow-list)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Real Slurm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Real shared FS with root_squash / krb5p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Live HiveServer2</a:t>
            </a:r>
            <a:endParaRPr lang="en-US" sz="1400" dirty="0"/>
          </a:p>
        </p:txBody>
      </p:sp>
      <p:sp>
        <p:nvSpPr>
          <p:cNvPr id="13" name="tests footer"/>
          <p:cNvSpPr txBox="1"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Recorded run: tests/verify-shared-home.output.txt — all 7 checks PASS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Things to know before someone asks</a:t>
            </a:r>
            <a:endParaRPr lang="en-US" sz="2600" dirty="0"/>
          </a:p>
        </p:txBody>
      </p:sp>
      <p:sp>
        <p:nvSpPr>
          <p:cNvPr id="3" name="note card 1"/>
          <p:cNvSpPr/>
          <p:nvPr/>
        </p:nvSpPr>
        <p:spPr>
          <a:xfrm>
            <a:off x="457200" y="105156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4" name="note 1 circle"/>
          <p:cNvSpPr/>
          <p:nvPr/>
        </p:nvSpPr>
        <p:spPr>
          <a:xfrm>
            <a:off x="685800" y="12801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note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399032"/>
            <a:ext cx="219456" cy="2194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29844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Stale “TGT” wording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7452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get.py, profile.d and TaskProlog comments; caches now hold service tickets only</a:t>
            </a:r>
            <a:endParaRPr lang="en-US" sz="1300" dirty="0"/>
          </a:p>
        </p:txBody>
      </p:sp>
      <p:sp>
        <p:nvSpPr>
          <p:cNvPr id="8" name="note card 2"/>
          <p:cNvSpPr/>
          <p:nvPr/>
        </p:nvSpPr>
        <p:spPr>
          <a:xfrm>
            <a:off x="4663440" y="105156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9" name="note 2 circle"/>
          <p:cNvSpPr/>
          <p:nvPr/>
        </p:nvSpPr>
        <p:spPr>
          <a:xfrm>
            <a:off x="4892040" y="12801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note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1399032"/>
            <a:ext cx="219456" cy="21945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532120" y="129844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Symlink check differs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892040" y="187452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UidMap uses stat(); _assert_secure uses lstat()</a:t>
            </a:r>
            <a:endParaRPr lang="en-US" sz="1300" dirty="0"/>
          </a:p>
        </p:txBody>
      </p:sp>
      <p:sp>
        <p:nvSpPr>
          <p:cNvPr id="13" name="note card 3"/>
          <p:cNvSpPr/>
          <p:nvPr/>
        </p:nvSpPr>
        <p:spPr>
          <a:xfrm>
            <a:off x="457200" y="274320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14" name="note 3 circle"/>
          <p:cNvSpPr/>
          <p:nvPr/>
        </p:nvSpPr>
        <p:spPr>
          <a:xfrm>
            <a:off x="685800" y="29718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note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090672"/>
            <a:ext cx="219456" cy="21945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25880" y="299008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Admin script edges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85800" y="356616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enroll checks username only; revoke's sed doesn't escape the name</a:t>
            </a:r>
            <a:endParaRPr lang="en-US" sz="1300" dirty="0"/>
          </a:p>
        </p:txBody>
      </p:sp>
      <p:sp>
        <p:nvSpPr>
          <p:cNvPr id="18" name="note card 4"/>
          <p:cNvSpPr/>
          <p:nvPr/>
        </p:nvSpPr>
        <p:spPr>
          <a:xfrm>
            <a:off x="4663440" y="274320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19" name="note 4 circle"/>
          <p:cNvSpPr/>
          <p:nvPr/>
        </p:nvSpPr>
        <p:spPr>
          <a:xfrm>
            <a:off x="4892040" y="29718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note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0912" y="3090672"/>
            <a:ext cx="219456" cy="21945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532120" y="299008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Hard-coded TLS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4892040" y="356616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hive_client.py always uses use_ssl=True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Remember three things</a:t>
            </a:r>
            <a:endParaRPr lang="en-US" sz="4000" dirty="0"/>
          </a:p>
        </p:txBody>
      </p:sp>
      <p:sp>
        <p:nvSpPr>
          <p:cNvPr id="3" name="takeaway 1 circle"/>
          <p:cNvSpPr/>
          <p:nvPr/>
        </p:nvSpPr>
        <p:spPr>
          <a:xfrm>
            <a:off x="548640" y="2606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takeaway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2724912"/>
            <a:ext cx="219456" cy="219456"/>
          </a:xfrm>
          <a:prstGeom prst="rect">
            <a:avLst/>
          </a:prstGeom>
        </p:spPr>
      </p:pic>
      <p:sp>
        <p:nvSpPr>
          <p:cNvPr id="5" name="takeaway text 1"/>
          <p:cNvSpPr txBox="1"/>
          <p:nvPr/>
        </p:nvSpPr>
        <p:spPr>
          <a:xfrm>
            <a:off x="1188720" y="260604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One broker key, not one per user</a:t>
            </a:r>
            <a:endParaRPr lang="en-US" sz="1800" dirty="0"/>
          </a:p>
        </p:txBody>
      </p:sp>
      <p:sp>
        <p:nvSpPr>
          <p:cNvPr id="6" name="takeaway 2 circle"/>
          <p:cNvSpPr/>
          <p:nvPr/>
        </p:nvSpPr>
        <p:spPr>
          <a:xfrm>
            <a:off x="548640" y="32461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takeaway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3364992"/>
            <a:ext cx="219456" cy="219456"/>
          </a:xfrm>
          <a:prstGeom prst="rect">
            <a:avLst/>
          </a:prstGeom>
        </p:spPr>
      </p:pic>
      <p:sp>
        <p:nvSpPr>
          <p:cNvPr id="8" name="takeaway text 2"/>
          <p:cNvSpPr txBox="1"/>
          <p:nvPr/>
        </p:nvSpPr>
        <p:spPr>
          <a:xfrm>
            <a:off x="1188720" y="32461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Users get service tickets only — never a TGT</a:t>
            </a:r>
            <a:endParaRPr lang="en-US" sz="1800" dirty="0"/>
          </a:p>
        </p:txBody>
      </p:sp>
      <p:sp>
        <p:nvSpPr>
          <p:cNvPr id="9" name="takeaway 3 circle"/>
          <p:cNvSpPr/>
          <p:nvPr/>
        </p:nvSpPr>
        <p:spPr>
          <a:xfrm>
            <a:off x="548640" y="3886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takeaway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4005072"/>
            <a:ext cx="219456" cy="219456"/>
          </a:xfrm>
          <a:prstGeom prst="rect">
            <a:avLst/>
          </a:prstGeom>
        </p:spPr>
      </p:pic>
      <p:sp>
        <p:nvSpPr>
          <p:cNvPr id="11" name="takeaway text 3"/>
          <p:cNvSpPr txBox="1"/>
          <p:nvPr/>
        </p:nvSpPr>
        <p:spPr>
          <a:xfrm>
            <a:off x="1188720" y="388620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The shared home is the transport; Slurm just points at it</a:t>
            </a:r>
            <a:endParaRPr lang="en-US" sz="1800" dirty="0"/>
          </a:p>
        </p:txBody>
      </p:sp>
      <p:sp>
        <p:nvSpPr>
          <p:cNvPr id="13" name="Text 0"/>
          <p:cNvSpPr/>
          <p:nvPr>
            <p:ph idx="101" type="body" hasCustomPrompt="1"/>
          </p:nvPr>
        </p:nvSpPr>
        <p:spPr>
          <a:xfrm>
            <a:off x="548640" y="260604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roker Keys">
  <a:themeElements>
    <a:clrScheme name="Broker Keys">
      <a:dk1>
        <a:srgbClr val="16202E"/>
      </a:dk1>
      <a:lt1>
        <a:srgbClr val="FFFFFF"/>
      </a:lt1>
      <a:dk2>
        <a:srgbClr val="1F3A5F"/>
      </a:dk2>
      <a:lt2>
        <a:srgbClr val="E8EEF6"/>
      </a:lt2>
      <a:accent1>
        <a:srgbClr val="C77A12"/>
      </a:accent1>
      <a:accent2>
        <a:srgbClr val="1F3A5F"/>
      </a:accent2>
      <a:accent3>
        <a:srgbClr val="2E7D4F"/>
      </a:accent3>
      <a:accent4>
        <a:srgbClr val="B23A3A"/>
      </a:accent4>
      <a:accent5>
        <a:srgbClr val="5B6778"/>
      </a:accent5>
      <a:accent6>
        <a:srgbClr val="8AA4C8"/>
      </a:accent6>
      <a:hlink>
        <a:srgbClr val="2B6CB0"/>
      </a:hlink>
      <a:folHlink>
        <a:srgbClr val="6B46C1"/>
      </a:folHlink>
    </a:clrScheme>
    <a:fontScheme name="Broker Key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shared-home-kerberos explained</dc:title>
  <dc:subject>PptxGenJS Presentation</dc:subject>
  <dc:creator>Claude</dc:creator>
  <cp:lastModifiedBy>Claude</cp:lastModifiedBy>
  <cp:revision>1</cp:revision>
  <dcterms:created xsi:type="dcterms:W3CDTF">2026-10-09T16:29:07Z</dcterms:created>
  <dcterms:modified xsi:type="dcterms:W3CDTF">2026-10-09T16:29:07Z</dcterms:modified>
</cp:coreProperties>
</file>