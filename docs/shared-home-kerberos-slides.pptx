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95c4796-d248-7d72-1857-a55f2d50cb8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Inside the code" id="{107e3340-a298-2e9b-bf6c-3fcc64f8e447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Security and trade-offs" id="{e07aa3e2-0b23-e2bc-073f-e031909842e9}">
          <p14:sldIdLst>
            <p14:sldId id="274"/>
            <p14:sldId id="275"/>
          </p14:sldIdLst>
        </p14:section>
        <p14:section name="Extensions and evidence" id="{d9d6e07d-2582-d9d5-2bc9-2026c7940b24}">
          <p14:sldIdLst>
            <p14:sldId id="276"/>
            <p14:sldId id="277"/>
            <p14:sldId id="278"/>
          </p14:sldIdLst>
        </p14:section>
        <p14:section name="Wrap-up" id="{88765b41-287a-674b-17a7-a4054a8e9d50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5F"/>
                </a:solidFill>
                <a:latin typeface="+mn-lt"/>
              </a:rPr>
              <a:t>Lines of code per file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Lines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credd.py (daemon)</c:v>
                  </c:pt>
                  <c:pt idx="1">
                    <c:v>verify-shared-home.sh</c:v>
                  </c:pt>
                  <c:pt idx="2">
                    <c:v>_krb.py (tool layer)</c:v>
                  </c:pt>
                  <c:pt idx="3">
                    <c:v>lakefs_cred_broker.py</c:v>
                  </c:pt>
                  <c:pt idx="4">
                    <c:v>LakeFS provider (Java)</c:v>
                  </c:pt>
                  <c:pt idx="5">
                    <c:v>hive_client.py</c:v>
                  </c:pt>
                  <c:pt idx="6">
                    <c:v>install helper</c:v>
                  </c:pt>
                  <c:pt idx="7">
                    <c:v>get.py (client)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860</c:v>
                </c:pt>
                <c:pt idx="1">
                  <c:v>361</c:v>
                </c:pt>
                <c:pt idx="2">
                  <c:v>438</c:v>
                </c:pt>
                <c:pt idx="3">
                  <c:v>167</c:v>
                </c:pt>
                <c:pt idx="4">
                  <c:v>158</c:v>
                </c:pt>
                <c:pt idx="5">
                  <c:v>93</c:v>
                </c:pt>
                <c:pt idx="6">
                  <c:v>59</c:v>
                </c:pt>
                <c:pt idx="7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explain the shared-home-kerberos repository (krbhpc 2.3.0) to recent graduates. This deck tells the story; the Word document has every line of code explained with line numbers. Suggested pace: about 1.5 minutes per slide, roughly 35 minutes plus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constraints. The punchline: the normal path (user runs kinit, ticket is forwarded to the job) is closed on every side. Doc section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to remember: a single trusted root daemon holds one service account's key, asks Active Directory for short-lived service tickets on each user's behalf, and writes them into the user's home directory, which every compute node already shares. Doc 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here if the audience is new to Kerberos. The full glossary table is in doc section 3. Key point: the KDC is Active Directory; the repository runs no KDC.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_krb.py lines 406-438 (s4u_mint). kvno runs on a throwaway copy of the broker cache because MIT's kvno stores every S4U2Proxy ticket in the cache it is given, even with --out-cache. The end-to-end test now completes this whole step against a KDC that holds an allow-list.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numbers 1 to 7 plus the refresh loop. 1 CAC login. 2 krb-get over the UNIX socket, UID from SO_PEERCRED. 3 broker TGT from one keytab. 4 S4U mint. 5 install as the user into $HOME. 6 TaskProlog sets KRB5CCNAME on every node. 7 job uses the Hive ticket. Refresh loop re-mints before expiry. Doc 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design, same MIT command-line tools. The details are in CHANGELOG.md and doc section 4.4. A library-based rewrite was tried and rejected; docs/kerberos-library-comparison.xlsx compares the alternatives.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Borrowed from a comparison with CRAFT (a certificate/PKINIT design). The cache check is validate_user_cache, _krb.py lines 156-217, called from _mint before the atomic rename (credd.py 402-418). Kill switch, min_uid and cooldown are in ensure(), credd.py 452-503. A first draft was too strict for common AD setups (UPN mappings, RC4 back-end tickets); an independent review caught it and 2.3.0 is the revised version. ticket_checks = warn relaxes only the name checks. Doc sections 4.5, 5.12-5.13, 6.7-6.8.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now map each step of the flow to the code that performs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is small: a daemon, a helper module, a tiny client and an install helper. pyproject.toml declares dependencies = []; kinit, kvno and setpriv are OS tools. Lines include docstrings and comments. Repository map: doc 4.3; what changed since 2.0.0: doc 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 section 5. _SCRUB is _krb.py lines 281-284; the klist memo is lines 332-351. Unchanged caches cost a stat() instead of a process. A tool that hangs for 60 s becomes a KrbToolError with category timeout. 14 tests in tests/test_krb_helpers.py.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 one free function, _assert_secure (lines 92-109): fail closed unless a path is root-owned, not a symlink, the right type, and not group/world writable; strict mode requires 0600 for the keytab. It now also checks kinit/klist/kvno and the uid map. Doc section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credd.py lines 363-383. kinit -R rewrites the file it renews, so it now renews a private copy that is renamed into place — a kvno reading the cache never sees half a file. The refresh pass checks the broker once up front and skips the pass with one log line if it can't be obtained.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credd.py ensure 452-503, _mint 402-418, _install 426-440. A home cache the user deleted is put back on the next pass without a new mint. There is now one install helper (src/krbhpc/install_ccache.py; bin/krb-install-ccache is a symlink). Doc 6.7-6.8 and 7.2.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in 2.3.0: the client can also send STATUS (krb-get --status), which reports the caller's own state and never mints. Users run eval "$(krb-get)"; /etc/profile.d runs it at login, so krb-get now times out after 30 s and shell-quotes what it prints. Errors go to stderr so eval never runs them. Handler lines 642-687; main sets socket mode 0666 at line 843. Kerberos failures reach the user as a plain-language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refresh_pass/refresh_loop lines 579-626; _slurm_uids 566-574. Idle for 7 days: the master copy is deleted and the copy in $HOME simply expires. Backoff: 1-15 min for transient errors, 15-60 min for ones that need an admin. Values come from config/credd.conf.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 section 9. The optional prolog.krb.sh only logs when a node can't see the cache; it always exits 0. hive_client.py then connects with auth_mechanism GSSAPI and service name hive.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check() is credd.py lines 696-775; error categories are _krb.py lines 232-242. A typo in credd.conf is logged as an unknown option; missing required options stop start-up with one clear line. New in 2.3.0: --check reports the kill switch, flags enrolled UIDs below min_uid, runs the ticket checks on its test mint (bad_ticket if they fail), and sends nothing to AD while the kill switch is on. Users can run krb-get --status themselves. Doc sections 6.12 and 10.5.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 guarantee from SECURITY.md: an unprivileged local user can obtain their own service tickets and nobody else's, and only if enrolled and delegation-eligible. Threat table: doc section 13. The systemd unit dropped DAC_OVERRIDE, CHOWN and FOWNER in 2.2; the end-to-end test runs the daemon with exactly the four remaining capabilities. Hardening tests: tests/test_hardening.py (9 cases, all pass).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stated plainly in the README. If either is unacceptable, the alternative is a node-local KCM design, which this repo deliberately does not implement.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 section 12. Broker trusts the identity header only from trusted proxy IPs and binds to 127.0.0.1. Java provider caches the key and refreshes 60 s before expiry, using -Dsun.security.jgss.native=true so it can read a cache with only a service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tests were re-run on 2.3.0 while preparing this deck: 14 helper, 10 daemon, 9 hardening and 12 safety unit tests, and 38 end-to-end checks with both kvno -U and -I, on MIT 1.20.1 and 1.21.3 (RHEL 9's version). The end-to-end test uses MIT's test KDB module, which can hold a delegation allow-list, so the whole path really runs. Doc section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AD names users in tickets is the main thing to confirm in the lab; ticket_checks = warn relaxes only the name checks while you do. Enterprise names (kvno -U) remain the default; check cross-realm users with --check. Full list in doc section 14, including the in-memory cooldown, hive_client's fixed TLS setting and the lakeFS key 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Prepared answers to sixteen likely questions are in doc section 15, including why kvno runs on a copy, how --check helps, and what was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shared-home-kerberos · explained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shared-home-kerberos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How orthrus gives every Slurm job Active Directory Kerberos tickets — with one broker key, constrained delegation and the shared home directory</a:t>
            </a:r>
            <a:endParaRPr lang="en-US" sz="1800" dirty="0"/>
          </a:p>
        </p:txBody>
      </p:sp>
      <p:pic>
        <p:nvPicPr>
          <p:cNvPr id="4" name="ke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548640" cy="548640"/>
          </a:xfrm>
          <a:prstGeom prst="rect">
            <a:avLst/>
          </a:prstGeom>
        </p:spPr>
      </p:pic>
      <p:sp>
        <p:nvSpPr>
          <p:cNvPr id="5" name="subtitle note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Version 2.3.0  ·  a walkthrough of the code for new engineers  ·  companion to the line-by-line Word guide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Why jobs can't just “log in” to Kerberos</a:t>
            </a:r>
            <a:endParaRPr lang="en-US" sz="2600" dirty="0"/>
          </a:p>
        </p:txBody>
      </p:sp>
      <p:sp>
        <p:nvSpPr>
          <p:cNvPr id="3" name="constraint card 1"/>
          <p:cNvSpPr/>
          <p:nvPr/>
        </p:nvSpPr>
        <p:spPr>
          <a:xfrm>
            <a:off x="457200" y="1143000"/>
            <a:ext cx="1517904" cy="26060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4" name="constraint 1 circle"/>
          <p:cNvSpPr/>
          <p:nvPr/>
        </p:nvSpPr>
        <p:spPr>
          <a:xfrm>
            <a:off x="941832" y="1325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constrain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1468526"/>
            <a:ext cx="263347" cy="263347"/>
          </a:xfrm>
          <a:prstGeom prst="rect">
            <a:avLst/>
          </a:prstGeom>
        </p:spPr>
      </p:pic>
      <p:sp>
        <p:nvSpPr>
          <p:cNvPr id="6" name="constraint title 1"/>
          <p:cNvSpPr txBox="1"/>
          <p:nvPr/>
        </p:nvSpPr>
        <p:spPr>
          <a:xfrm>
            <a:off x="566928" y="20116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CAC login only</a:t>
            </a:r>
            <a:endParaRPr lang="en-US" sz="1400" dirty="0"/>
          </a:p>
        </p:txBody>
      </p:sp>
      <p:sp>
        <p:nvSpPr>
          <p:cNvPr id="7" name="constraint body 1"/>
          <p:cNvSpPr txBox="1"/>
          <p:nvPr/>
        </p:nvSpPr>
        <p:spPr>
          <a:xfrm>
            <a:off x="566928" y="260604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Smartcard can't get a Kerberos ticket on the cluster</a:t>
            </a:r>
            <a:endParaRPr lang="en-US" sz="1200" dirty="0"/>
          </a:p>
        </p:txBody>
      </p:sp>
      <p:sp>
        <p:nvSpPr>
          <p:cNvPr id="8" name="constraint card 2"/>
          <p:cNvSpPr/>
          <p:nvPr/>
        </p:nvSpPr>
        <p:spPr>
          <a:xfrm>
            <a:off x="2139696" y="1143000"/>
            <a:ext cx="1517904" cy="26060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9" name="constraint 2 circle"/>
          <p:cNvSpPr/>
          <p:nvPr/>
        </p:nvSpPr>
        <p:spPr>
          <a:xfrm>
            <a:off x="2624328" y="1325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constrain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974" y="1468526"/>
            <a:ext cx="263347" cy="263347"/>
          </a:xfrm>
          <a:prstGeom prst="rect">
            <a:avLst/>
          </a:prstGeom>
        </p:spPr>
      </p:pic>
      <p:sp>
        <p:nvSpPr>
          <p:cNvPr id="11" name="constraint title 2"/>
          <p:cNvSpPr txBox="1"/>
          <p:nvPr/>
        </p:nvSpPr>
        <p:spPr>
          <a:xfrm>
            <a:off x="2249424" y="20116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 forwarding</a:t>
            </a:r>
            <a:endParaRPr lang="en-US" sz="1400" dirty="0"/>
          </a:p>
        </p:txBody>
      </p:sp>
      <p:sp>
        <p:nvSpPr>
          <p:cNvPr id="12" name="constraint body 2"/>
          <p:cNvSpPr txBox="1"/>
          <p:nvPr/>
        </p:nvSpPr>
        <p:spPr>
          <a:xfrm>
            <a:off x="2249424" y="260604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Sending the PC's ticket over SSH is blocked</a:t>
            </a:r>
            <a:endParaRPr lang="en-US" sz="1200" dirty="0"/>
          </a:p>
        </p:txBody>
      </p:sp>
      <p:sp>
        <p:nvSpPr>
          <p:cNvPr id="13" name="constraint card 3"/>
          <p:cNvSpPr/>
          <p:nvPr/>
        </p:nvSpPr>
        <p:spPr>
          <a:xfrm>
            <a:off x="3822192" y="1143000"/>
            <a:ext cx="1517904" cy="26060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14" name="constraint 3 circle"/>
          <p:cNvSpPr/>
          <p:nvPr/>
        </p:nvSpPr>
        <p:spPr>
          <a:xfrm>
            <a:off x="4306824" y="1325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constrain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470" y="1468526"/>
            <a:ext cx="263347" cy="263347"/>
          </a:xfrm>
          <a:prstGeom prst="rect">
            <a:avLst/>
          </a:prstGeom>
        </p:spPr>
      </p:pic>
      <p:sp>
        <p:nvSpPr>
          <p:cNvPr id="16" name="constraint title 3"/>
          <p:cNvSpPr txBox="1"/>
          <p:nvPr/>
        </p:nvSpPr>
        <p:spPr>
          <a:xfrm>
            <a:off x="3931920" y="20116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Numbers, not names</a:t>
            </a:r>
            <a:endParaRPr lang="en-US" sz="1400" dirty="0"/>
          </a:p>
        </p:txBody>
      </p:sp>
      <p:sp>
        <p:nvSpPr>
          <p:cNvPr id="17" name="constraint body 3"/>
          <p:cNvSpPr txBox="1"/>
          <p:nvPr/>
        </p:nvSpPr>
        <p:spPr>
          <a:xfrm>
            <a:off x="3931920" y="260604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Cluster knows users only by UID/GID</a:t>
            </a:r>
            <a:endParaRPr lang="en-US" sz="1200" dirty="0"/>
          </a:p>
        </p:txBody>
      </p:sp>
      <p:sp>
        <p:nvSpPr>
          <p:cNvPr id="18" name="constraint card 4"/>
          <p:cNvSpPr/>
          <p:nvPr/>
        </p:nvSpPr>
        <p:spPr>
          <a:xfrm>
            <a:off x="5504688" y="1143000"/>
            <a:ext cx="1517904" cy="26060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19" name="constraint 4 circle"/>
          <p:cNvSpPr/>
          <p:nvPr/>
        </p:nvSpPr>
        <p:spPr>
          <a:xfrm>
            <a:off x="5989320" y="1325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constrain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966" y="1468526"/>
            <a:ext cx="263347" cy="263347"/>
          </a:xfrm>
          <a:prstGeom prst="rect">
            <a:avLst/>
          </a:prstGeom>
        </p:spPr>
      </p:pic>
      <p:sp>
        <p:nvSpPr>
          <p:cNvPr id="21" name="constraint title 4"/>
          <p:cNvSpPr txBox="1"/>
          <p:nvPr/>
        </p:nvSpPr>
        <p:spPr>
          <a:xfrm>
            <a:off x="5614416" y="20116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Narrow delegation only</a:t>
            </a:r>
            <a:endParaRPr lang="en-US" sz="1400" dirty="0"/>
          </a:p>
        </p:txBody>
      </p:sp>
      <p:sp>
        <p:nvSpPr>
          <p:cNvPr id="22" name="constraint body 4"/>
          <p:cNvSpPr txBox="1"/>
          <p:nvPr/>
        </p:nvSpPr>
        <p:spPr>
          <a:xfrm>
            <a:off x="5614416" y="260604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 allows constrained, not unconstrained</a:t>
            </a:r>
            <a:endParaRPr lang="en-US" sz="1200" dirty="0"/>
          </a:p>
        </p:txBody>
      </p:sp>
      <p:sp>
        <p:nvSpPr>
          <p:cNvPr id="23" name="constraint card 5"/>
          <p:cNvSpPr/>
          <p:nvPr/>
        </p:nvSpPr>
        <p:spPr>
          <a:xfrm>
            <a:off x="7187184" y="1143000"/>
            <a:ext cx="1517904" cy="26060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24" name="constraint 5 circle"/>
          <p:cNvSpPr/>
          <p:nvPr/>
        </p:nvSpPr>
        <p:spPr>
          <a:xfrm>
            <a:off x="7671816" y="1325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constraint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462" y="1468526"/>
            <a:ext cx="263347" cy="263347"/>
          </a:xfrm>
          <a:prstGeom prst="rect">
            <a:avLst/>
          </a:prstGeom>
        </p:spPr>
      </p:pic>
      <p:sp>
        <p:nvSpPr>
          <p:cNvPr id="26" name="constraint title 5"/>
          <p:cNvSpPr txBox="1"/>
          <p:nvPr/>
        </p:nvSpPr>
        <p:spPr>
          <a:xfrm>
            <a:off x="7296912" y="20116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Multi-day jobs</a:t>
            </a:r>
            <a:endParaRPr lang="en-US" sz="1400" dirty="0"/>
          </a:p>
        </p:txBody>
      </p:sp>
      <p:sp>
        <p:nvSpPr>
          <p:cNvPr id="27" name="constraint body 5"/>
          <p:cNvSpPr txBox="1"/>
          <p:nvPr/>
        </p:nvSpPr>
        <p:spPr>
          <a:xfrm>
            <a:off x="7296912" y="260604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Tickets must refresh with nobody present</a:t>
            </a:r>
            <a:endParaRPr lang="en-US" sz="1200" dirty="0"/>
          </a:p>
        </p:txBody>
      </p:sp>
      <p:sp>
        <p:nvSpPr>
          <p:cNvPr id="28" name="problem takeaway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Yet jobs on every compute node must reach Hive and HDFS, which accept only Kerberos.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idea: a trusted concierge buys specific ride tickets</a:t>
            </a:r>
            <a:endParaRPr lang="en-US" sz="26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9728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Amusement-park analogy</a:t>
            </a:r>
            <a:endParaRPr lang="en-US" sz="1600" dirty="0"/>
          </a:p>
        </p:txBody>
      </p:sp>
      <p:sp>
        <p:nvSpPr>
          <p:cNvPr id="5" name="analogy bullets"/>
          <p:cNvSpPr txBox="1"/>
          <p:nvPr/>
        </p:nvSpPr>
        <p:spPr>
          <a:xfrm>
            <a:off x="685800" y="173736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TGT = all-day wristband. Users never get one.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Service ticket = one ride. That's all users get.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Broker = concierge allowed to buy tickets for approved rides only.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Home directory = a locker every entrance can see into.</a:t>
            </a:r>
            <a:endParaRPr lang="en-US" sz="1400" dirty="0"/>
          </a:p>
        </p:txBody>
      </p:sp>
      <p:sp>
        <p:nvSpPr>
          <p:cNvPr id="6" name="idea step 1 circle"/>
          <p:cNvSpPr/>
          <p:nvPr/>
        </p:nvSpPr>
        <p:spPr>
          <a:xfrm>
            <a:off x="4754880" y="1170432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dea 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3188" y="13487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23560" y="1143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One broker key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1508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Root daemon holds a single keytab</a:t>
            </a:r>
            <a:endParaRPr lang="en-US" sz="1300" dirty="0"/>
          </a:p>
        </p:txBody>
      </p:sp>
      <p:sp>
        <p:nvSpPr>
          <p:cNvPr id="10" name="idea step 2 circle"/>
          <p:cNvSpPr/>
          <p:nvPr/>
        </p:nvSpPr>
        <p:spPr>
          <a:xfrm>
            <a:off x="4754880" y="22860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dea 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88" y="24643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2258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Mint per user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26243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 issues service tickets on the user's behalf</a:t>
            </a:r>
            <a:endParaRPr lang="en-US" sz="1300" dirty="0"/>
          </a:p>
        </p:txBody>
      </p:sp>
      <p:sp>
        <p:nvSpPr>
          <p:cNvPr id="14" name="idea step 3 circle"/>
          <p:cNvSpPr/>
          <p:nvPr/>
        </p:nvSpPr>
        <p:spPr>
          <a:xfrm>
            <a:off x="4754880" y="3401568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dea 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188" y="357987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623560" y="33741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Drop in $HOME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623560" y="373989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Shared filesystem = every node already has 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Four Kerberos words you need first</a:t>
            </a:r>
            <a:endParaRPr lang="en-US" sz="2600" dirty="0"/>
          </a:p>
        </p:txBody>
      </p:sp>
      <p:sp>
        <p:nvSpPr>
          <p:cNvPr id="3" name="concept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pic>
        <p:nvPicPr>
          <p:cNvPr id="4" name="concep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325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Keytab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file holding a principal's long-term key. Lets a program authenticate with no password. The broker's keytab is the crown jewel.</a:t>
            </a:r>
            <a:endParaRPr lang="en-US" sz="1300" dirty="0"/>
          </a:p>
        </p:txBody>
      </p:sp>
      <p:sp>
        <p:nvSpPr>
          <p:cNvPr id="7" name="concept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pic>
        <p:nvPicPr>
          <p:cNvPr id="8" name="concep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40680" y="1325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TGT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18288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Ticket-Granting Ticket: used to get other tickets. Only the broker has one.</a:t>
            </a:r>
            <a:endParaRPr lang="en-US" sz="1300" dirty="0"/>
          </a:p>
        </p:txBody>
      </p:sp>
      <p:sp>
        <p:nvSpPr>
          <p:cNvPr id="11" name="concept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pic>
        <p:nvPicPr>
          <p:cNvPr id="12" name="concep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Service ticket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35204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Proves identity to one service (one SPN, e.g. hive/host@REALM). Users get only these.</a:t>
            </a:r>
            <a:endParaRPr lang="en-US" sz="1300" dirty="0"/>
          </a:p>
        </p:txBody>
      </p:sp>
      <p:sp>
        <p:nvSpPr>
          <p:cNvPr id="15" name="concept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pic>
        <p:nvPicPr>
          <p:cNvPr id="16" name="concept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4068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Credential cache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4892040" y="35204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File holding tickets in use. Programs find it via KRB5CCNAME=FILE:…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Constrained delegation in two steps</a:t>
            </a:r>
            <a:endParaRPr lang="en-US" sz="2600" dirty="0"/>
          </a:p>
        </p:txBody>
      </p:sp>
      <p:sp>
        <p:nvSpPr>
          <p:cNvPr id="3" name="s4u box 1"/>
          <p:cNvSpPr/>
          <p:nvPr/>
        </p:nvSpPr>
        <p:spPr>
          <a:xfrm>
            <a:off x="457200" y="1188720"/>
            <a:ext cx="182880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984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Broker TGT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kinit -k -t broker.keytab</a:t>
            </a:r>
            <a:endParaRPr lang="en-US" sz="1200" dirty="0"/>
          </a:p>
        </p:txBody>
      </p:sp>
      <p:sp>
        <p:nvSpPr>
          <p:cNvPr id="6" name="s4u arrow 1"/>
          <p:cNvSpPr/>
          <p:nvPr/>
        </p:nvSpPr>
        <p:spPr>
          <a:xfrm>
            <a:off x="2322576" y="1645920"/>
            <a:ext cx="24688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s4u box 2"/>
          <p:cNvSpPr/>
          <p:nvPr/>
        </p:nvSpPr>
        <p:spPr>
          <a:xfrm>
            <a:off x="2606040" y="1188720"/>
            <a:ext cx="182880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2984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S4U2Self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37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“ticket for jdoe, to me”</a:t>
            </a:r>
            <a:endParaRPr lang="en-US" sz="1200" dirty="0"/>
          </a:p>
        </p:txBody>
      </p:sp>
      <p:sp>
        <p:nvSpPr>
          <p:cNvPr id="10" name="s4u arrow 2"/>
          <p:cNvSpPr/>
          <p:nvPr/>
        </p:nvSpPr>
        <p:spPr>
          <a:xfrm>
            <a:off x="4471416" y="1645920"/>
            <a:ext cx="24688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4u box 3"/>
          <p:cNvSpPr/>
          <p:nvPr/>
        </p:nvSpPr>
        <p:spPr>
          <a:xfrm>
            <a:off x="4754880" y="1188720"/>
            <a:ext cx="182880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984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S4U2Proxy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37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“trade it for jdoe → Hive”</a:t>
            </a:r>
            <a:endParaRPr lang="en-US" sz="1200" dirty="0"/>
          </a:p>
        </p:txBody>
      </p:sp>
      <p:sp>
        <p:nvSpPr>
          <p:cNvPr id="14" name="s4u arrow 3"/>
          <p:cNvSpPr/>
          <p:nvPr/>
        </p:nvSpPr>
        <p:spPr>
          <a:xfrm>
            <a:off x="6620256" y="1645920"/>
            <a:ext cx="24688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4u box 4"/>
          <p:cNvSpPr/>
          <p:nvPr/>
        </p:nvSpPr>
        <p:spPr>
          <a:xfrm>
            <a:off x="6903720" y="1188720"/>
            <a:ext cx="182880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12984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Service tickets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1737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hive/…, hdfs/… for jdoe</a:t>
            </a:r>
            <a:endParaRPr lang="en-US" sz="1200" dirty="0"/>
          </a:p>
        </p:txBody>
      </p:sp>
      <p:sp>
        <p:nvSpPr>
          <p:cNvPr id="18" name="kvno command panel"/>
          <p:cNvSpPr/>
          <p:nvPr/>
        </p:nvSpPr>
        <p:spPr>
          <a:xfrm>
            <a:off x="457200" y="2697480"/>
            <a:ext cx="8229600" cy="73152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kvno command"/>
          <p:cNvSpPr txBox="1"/>
          <p:nvPr/>
        </p:nvSpPr>
        <p:spPr>
          <a:xfrm>
            <a:off x="594360" y="2788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kvno -c FILE:&lt;copy of broker_cc&gt; --out-cache FILE:&lt;tmp&gt;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-U jdoe -P hive/hiveserver2.corp...@REALM hdfs/namenode.corp...@REALM</a:t>
            </a:r>
            <a:endParaRPr lang="en-US" sz="1200" dirty="0"/>
          </a:p>
        </p:txBody>
      </p:sp>
      <p:sp>
        <p:nvSpPr>
          <p:cNvPr id="20" name="s4u explanation"/>
          <p:cNvSpPr txBox="1"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-U does S4U2Self, -P does S4U2Proxy.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 only allows SPNs listed in the broker account's msDS-AllowedToDelegateTo — the same list as delegate_targets in credd.conf. No TGT is ever produced for the user.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End-to-end architecture</a:t>
            </a:r>
            <a:endParaRPr lang="en-US" sz="2600" dirty="0"/>
          </a:p>
        </p:txBody>
      </p:sp>
      <p:pic>
        <p:nvPicPr>
          <p:cNvPr id="3" name="system architecture diagram" descr="orthrus system architecture with numbered 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914400"/>
            <a:ext cx="5833872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What changed in 2.1 and 2.2</a:t>
            </a:r>
            <a:endParaRPr lang="en-US" sz="2600" dirty="0"/>
          </a:p>
        </p:txBody>
      </p:sp>
      <p:sp>
        <p:nvSpPr>
          <p:cNvPr id="3" name="change 1 circle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hang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285646"/>
            <a:ext cx="263347" cy="2633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124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More correct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490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kvno runs on a broker-cache copy; renewal is atomic; times in UTC</a:t>
            </a:r>
            <a:endParaRPr lang="en-US" sz="1200" dirty="0"/>
          </a:p>
        </p:txBody>
      </p:sp>
      <p:sp>
        <p:nvSpPr>
          <p:cNvPr id="7" name="change 2 circle"/>
          <p:cNvSpPr/>
          <p:nvPr/>
        </p:nvSpPr>
        <p:spPr>
          <a:xfrm>
            <a:off x="4663440" y="1143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chang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128564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94960" y="1124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Harder to misuse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1490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Tools by absolute path, MIT 1.19+ checked, fewer capabilities</a:t>
            </a:r>
            <a:endParaRPr lang="en-US" sz="1200" dirty="0"/>
          </a:p>
        </p:txBody>
      </p:sp>
      <p:sp>
        <p:nvSpPr>
          <p:cNvPr id="11" name="change 3 circle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chang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242864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267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Cheaper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2633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klist only when a cache changed; users refreshed in parallel</a:t>
            </a:r>
            <a:endParaRPr lang="en-US" sz="1200" dirty="0"/>
          </a:p>
        </p:txBody>
      </p:sp>
      <p:sp>
        <p:nvSpPr>
          <p:cNvPr id="15" name="change 4 circle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hang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086" y="2428646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94960" y="2267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Self-healing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633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Deleted caches put back, restarts resume, failures backed off</a:t>
            </a:r>
            <a:endParaRPr lang="en-US" sz="1200" dirty="0"/>
          </a:p>
        </p:txBody>
      </p:sp>
      <p:sp>
        <p:nvSpPr>
          <p:cNvPr id="19" name="change 5 circle"/>
          <p:cNvSpPr/>
          <p:nvPr/>
        </p:nvSpPr>
        <p:spPr>
          <a:xfrm>
            <a:off x="457200" y="3429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chang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3571646"/>
            <a:ext cx="263347" cy="26334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410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Easier to support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188720" y="3776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Labelled failures, orthrus --check, config typos reported</a:t>
            </a:r>
            <a:endParaRPr lang="en-US" sz="1200" dirty="0"/>
          </a:p>
        </p:txBody>
      </p:sp>
      <p:sp>
        <p:nvSpPr>
          <p:cNvPr id="23" name="change 6 circle"/>
          <p:cNvSpPr/>
          <p:nvPr/>
        </p:nvSpPr>
        <p:spPr>
          <a:xfrm>
            <a:off x="4663440" y="3429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chang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6086" y="3571646"/>
            <a:ext cx="263347" cy="26334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94960" y="3410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Better tested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394960" y="3776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Full S4U path end to end: 28 checks, 33 unit tests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New in 2.3.0: safety controls</a:t>
            </a:r>
            <a:endParaRPr lang="en-US" sz="2600" dirty="0"/>
          </a:p>
        </p:txBody>
      </p:sp>
      <p:sp>
        <p:nvSpPr>
          <p:cNvPr id="3" name="safety 1 circle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safet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285646"/>
            <a:ext cx="263347" cy="2633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124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 new cache is checked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490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Right user, every service, no TGT, AES session key, 5+ minutes left — or it's thrown away</a:t>
            </a:r>
            <a:endParaRPr lang="en-US" sz="1200" dirty="0"/>
          </a:p>
        </p:txBody>
      </p:sp>
      <p:sp>
        <p:nvSpPr>
          <p:cNvPr id="7" name="safety 2 circle"/>
          <p:cNvSpPr/>
          <p:nvPr/>
        </p:nvSpPr>
        <p:spPr>
          <a:xfrm>
            <a:off x="4663440" y="1143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safet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128564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94960" y="1124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Kill switch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1490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touch /etc/krb-hpc/disabled stops all minting at once, no restart</a:t>
            </a:r>
            <a:endParaRPr lang="en-US" sz="1200" dirty="0"/>
          </a:p>
        </p:txBody>
      </p:sp>
      <p:sp>
        <p:nvSpPr>
          <p:cNvPr id="11" name="safety 3 circle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safet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242864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267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System accounts never served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2633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UIDs below min_uid (from /etc/login.defs) are refused</a:t>
            </a:r>
            <a:endParaRPr lang="en-US" sz="1200" dirty="0"/>
          </a:p>
        </p:txBody>
      </p:sp>
      <p:sp>
        <p:nvSpPr>
          <p:cNvPr id="15" name="safety 4 circle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safety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086" y="2428646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94960" y="2267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Failure cooldown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633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refused user's repeat requests are answered from memory for 60 s</a:t>
            </a:r>
            <a:endParaRPr lang="en-US" sz="1200" dirty="0"/>
          </a:p>
        </p:txBody>
      </p:sp>
      <p:sp>
        <p:nvSpPr>
          <p:cNvPr id="19" name="safety 5 circle"/>
          <p:cNvSpPr/>
          <p:nvPr/>
        </p:nvSpPr>
        <p:spPr>
          <a:xfrm>
            <a:off x="457200" y="34290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afety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3571646"/>
            <a:ext cx="263347" cy="26334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410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krb-get --status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188720" y="3776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Users see enrollment, expiry, next retry and their last error</a:t>
            </a:r>
            <a:endParaRPr lang="en-US" sz="1200" dirty="0"/>
          </a:p>
        </p:txBody>
      </p:sp>
      <p:sp>
        <p:nvSpPr>
          <p:cNvPr id="23" name="safety 6 circle"/>
          <p:cNvSpPr/>
          <p:nvPr/>
        </p:nvSpPr>
        <p:spPr>
          <a:xfrm>
            <a:off x="4663440" y="3429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safety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6086" y="3571646"/>
            <a:ext cx="263347" cy="26334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94960" y="3410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core dumps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394960" y="3776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Non-dumpable process: tickets in memory never land on disk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Inside the code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_krb.py  ·  credd.py  ·  get.py  ·  install helper  ·  Slurm hooks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Where the code lives</a:t>
            </a:r>
            <a:endParaRPr lang="en-US" sz="2600" dirty="0"/>
          </a:p>
        </p:txBody>
      </p:sp>
      <p:graphicFrame>
        <p:nvGraphicFramePr>
          <p:cNvPr id="3" name="lines of code chart" descr=""/>
          <p:cNvGraphicFramePr/>
          <p:nvPr/>
        </p:nvGraphicFramePr>
        <p:xfrm>
          <a:off x="457200" y="1005840"/>
          <a:ext cx="5120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keaway card"/>
          <p:cNvSpPr/>
          <p:nvPr/>
        </p:nvSpPr>
        <p:spPr>
          <a:xfrm>
            <a:off x="5852160" y="1097280"/>
            <a:ext cx="2834640" cy="342900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08076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860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lines in the daemon — the heart of the system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2697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third-party Python dependencies for the core package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_krb.py: parse text, run tools safely</a:t>
            </a:r>
            <a:endParaRPr lang="en-US" sz="2600" dirty="0"/>
          </a:p>
        </p:txBody>
      </p:sp>
      <p:sp>
        <p:nvSpPr>
          <p:cNvPr id="3" name="krb function 1"/>
          <p:cNvSpPr/>
          <p:nvPr/>
        </p:nvSpPr>
        <p:spPr>
          <a:xfrm>
            <a:off x="457200" y="105156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parse_klist() · earliest_expiry()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35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Ticket times, read in UTC</a:t>
            </a:r>
            <a:endParaRPr lang="en-US" sz="1300" dirty="0"/>
          </a:p>
        </p:txBody>
      </p:sp>
      <p:sp>
        <p:nvSpPr>
          <p:cNvPr id="6" name="krb function 2"/>
          <p:cNvSpPr/>
          <p:nvPr/>
        </p:nvSpPr>
        <p:spPr>
          <a:xfrm>
            <a:off x="457200" y="1892808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classify_error()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768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stderr → not_delegable, kdc_unreachable, …</a:t>
            </a:r>
            <a:endParaRPr lang="en-US" sz="1300" dirty="0"/>
          </a:p>
        </p:txBody>
      </p:sp>
      <p:sp>
        <p:nvSpPr>
          <p:cNvPr id="9" name="krb function 3"/>
          <p:cNvSpPr/>
          <p:nvPr/>
        </p:nvSpPr>
        <p:spPr>
          <a:xfrm>
            <a:off x="457200" y="2734056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807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validate_user_cache()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181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New cache: right user, no TGT, AES</a:t>
            </a:r>
            <a:endParaRPr lang="en-US" sz="1300" dirty="0"/>
          </a:p>
        </p:txBody>
      </p:sp>
      <p:sp>
        <p:nvSpPr>
          <p:cNvPr id="12" name="krb function 4"/>
          <p:cNvSpPr/>
          <p:nvPr/>
        </p:nvSpPr>
        <p:spPr>
          <a:xfrm>
            <a:off x="457200" y="3575304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3648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Krb5._klist_cached()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59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klist only when the cache file changed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Fixed paths, clean environment</a:t>
            </a:r>
            <a:endParaRPr lang="en-US" sz="1600" dirty="0"/>
          </a:p>
        </p:txBody>
      </p:sp>
      <p:sp>
        <p:nvSpPr>
          <p:cNvPr id="16" name="scrub code panel"/>
          <p:cNvSpPr/>
          <p:nvPr/>
        </p:nvSpPr>
        <p:spPr>
          <a:xfrm>
            <a:off x="4754880" y="1508760"/>
            <a:ext cx="3931920" cy="155448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scrub code"/>
          <p:cNvSpPr txBox="1"/>
          <p:nvPr/>
        </p:nvSpPr>
        <p:spPr>
          <a:xfrm>
            <a:off x="4892040" y="1600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kvno = /usr/bin/kvno   # never PATH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_SCRUB = ("LD_PRELOAD", "KRB5CCNAME",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"KRB5_CONFIG", "KRB5_TRACE", ... "TZ")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env["LC_ALL"] = "C"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env["TZ"] = "UTC0"</a:t>
            </a:r>
            <a:endParaRPr lang="en-US" sz="1200" dirty="0"/>
          </a:p>
        </p:txBody>
      </p:sp>
      <p:sp>
        <p:nvSpPr>
          <p:cNvPr id="18" name="scrub explanation"/>
          <p:cNvSpPr txBox="1"/>
          <p:nvPr/>
        </p:nvSpPr>
        <p:spPr>
          <a:xfrm>
            <a:off x="4754880" y="32004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Tools run by absolute path, must be root-owned and MIT 1.19+. Injection and redirect variables are removed; C locale and UTC make klist output predictable. Arguments are lists — no shell.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credd.py: six building blocks</a:t>
            </a:r>
            <a:endParaRPr lang="en-US" sz="2600" dirty="0"/>
          </a:p>
        </p:txBody>
      </p:sp>
      <p:sp>
        <p:nvSpPr>
          <p:cNvPr id="3" name="class card Config"/>
          <p:cNvSpPr/>
          <p:nvPr/>
        </p:nvSpPr>
        <p:spPr>
          <a:xfrm>
            <a:off x="457200" y="10515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4" name="class Config circle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class Confi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3651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Loads credd.conf safely; reports typos and missing options</a:t>
            </a:r>
            <a:endParaRPr lang="en-US" sz="1200" dirty="0"/>
          </a:p>
        </p:txBody>
      </p:sp>
      <p:sp>
        <p:nvSpPr>
          <p:cNvPr id="8" name="class card UidMap"/>
          <p:cNvSpPr/>
          <p:nvPr/>
        </p:nvSpPr>
        <p:spPr>
          <a:xfrm>
            <a:off x="3246120" y="10515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9" name="class UidMap circle"/>
          <p:cNvSpPr/>
          <p:nvPr/>
        </p:nvSpPr>
        <p:spPr>
          <a:xfrm>
            <a:off x="3429000" y="12344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class UidMa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13651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UidMap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uidmap.conf: Linux user → real AD user. Reloads when the file changes</a:t>
            </a:r>
            <a:endParaRPr lang="en-US" sz="1200" dirty="0"/>
          </a:p>
        </p:txBody>
      </p:sp>
      <p:sp>
        <p:nvSpPr>
          <p:cNvPr id="13" name="class card TicketManager"/>
          <p:cNvSpPr/>
          <p:nvPr/>
        </p:nvSpPr>
        <p:spPr>
          <a:xfrm>
            <a:off x="6035040" y="10515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BEFDC"/>
          </a:solidFill>
          <a:ln w="12700">
            <a:solidFill>
              <a:srgbClr val="FBEFDC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14" name="class TicketManager circle"/>
          <p:cNvSpPr/>
          <p:nvPr/>
        </p:nvSpPr>
        <p:spPr>
          <a:xfrm>
            <a:off x="621792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class TicketManag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136519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TicketManager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Broker TGT, mint, check, install, refresh, backoff</a:t>
            </a:r>
            <a:endParaRPr lang="en-US" sz="1200" dirty="0"/>
          </a:p>
        </p:txBody>
      </p:sp>
      <p:sp>
        <p:nvSpPr>
          <p:cNvPr id="18" name="class card Handler"/>
          <p:cNvSpPr/>
          <p:nvPr/>
        </p:nvSpPr>
        <p:spPr>
          <a:xfrm>
            <a:off x="457200" y="28346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19" name="class Handler circle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class Handle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14827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081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socket request: UID from the kernel; GET or STATUS</a:t>
            </a:r>
            <a:endParaRPr lang="en-US" sz="1200" dirty="0"/>
          </a:p>
        </p:txBody>
      </p:sp>
      <p:sp>
        <p:nvSpPr>
          <p:cNvPr id="23" name="class card Server"/>
          <p:cNvSpPr/>
          <p:nvPr/>
        </p:nvSpPr>
        <p:spPr>
          <a:xfrm>
            <a:off x="3246120" y="28346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24" name="class Server circle"/>
          <p:cNvSpPr/>
          <p:nvPr/>
        </p:nvSpPr>
        <p:spPr>
          <a:xfrm>
            <a:off x="3429000" y="3017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class Server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759" y="3148279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081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Threaded UNIX-socket server, capped at 32 requests</a:t>
            </a:r>
            <a:endParaRPr lang="en-US" sz="1200" dirty="0"/>
          </a:p>
        </p:txBody>
      </p:sp>
      <p:sp>
        <p:nvSpPr>
          <p:cNvPr id="28" name="class card main() / check()"/>
          <p:cNvSpPr/>
          <p:nvPr/>
        </p:nvSpPr>
        <p:spPr>
          <a:xfrm>
            <a:off x="6035040" y="28346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29" name="class main() / check() circle"/>
          <p:cNvSpPr/>
          <p:nvPr/>
        </p:nvSpPr>
        <p:spPr>
          <a:xfrm>
            <a:off x="6217920" y="3017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class main() / check()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679" y="3148279"/>
            <a:ext cx="241402" cy="2414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081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 / check()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Start the daemon — or --check a deployment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Keeping the one broker credential alive</a:t>
            </a:r>
            <a:endParaRPr lang="en-US" sz="2600" dirty="0"/>
          </a:p>
        </p:txBody>
      </p:sp>
      <p:sp>
        <p:nvSpPr>
          <p:cNvPr id="3" name="broker case 1"/>
          <p:cNvSpPr/>
          <p:nvPr/>
        </p:nvSpPr>
        <p:spPr>
          <a:xfrm>
            <a:off x="457200" y="105156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4" name="broker case 1 circle"/>
          <p:cNvSpPr/>
          <p:nvPr/>
        </p:nvSpPr>
        <p:spPr>
          <a:xfrm>
            <a:off x="1435608" y="12344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broker cas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2029" y="14008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Case 1: Still good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Expires more than 1 hour away (renew_margin)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→ do nothing</a:t>
            </a:r>
            <a:endParaRPr lang="en-US" sz="1200" dirty="0"/>
          </a:p>
        </p:txBody>
      </p:sp>
      <p:sp>
        <p:nvSpPr>
          <p:cNvPr id="9" name="broker case 2"/>
          <p:cNvSpPr/>
          <p:nvPr/>
        </p:nvSpPr>
        <p:spPr>
          <a:xfrm>
            <a:off x="3246120" y="105156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10" name="broker case 2 circle"/>
          <p:cNvSpPr/>
          <p:nvPr/>
        </p:nvSpPr>
        <p:spPr>
          <a:xfrm>
            <a:off x="4224528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broker cas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949" y="14008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Case 2: Renew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Near expiry, still renewable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→ kinit -R on a copy, atomic rename</a:t>
            </a:r>
            <a:endParaRPr lang="en-US" sz="1200" dirty="0"/>
          </a:p>
        </p:txBody>
      </p:sp>
      <p:sp>
        <p:nvSpPr>
          <p:cNvPr id="15" name="broker case 3"/>
          <p:cNvSpPr/>
          <p:nvPr/>
        </p:nvSpPr>
        <p:spPr>
          <a:xfrm>
            <a:off x="6035040" y="105156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16" name="broker case 3 circle"/>
          <p:cNvSpPr/>
          <p:nvPr/>
        </p:nvSpPr>
        <p:spPr>
          <a:xfrm>
            <a:off x="7013448" y="1234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broker cas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869" y="14008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17220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Case 3: Re-acquire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Missing, or renewal impossible or failed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→ kinit from keytab into temp file, chmod 600, atomic rename</a:t>
            </a:r>
            <a:endParaRPr lang="en-US" sz="1200" dirty="0"/>
          </a:p>
        </p:txBody>
      </p:sp>
      <p:sp>
        <p:nvSpPr>
          <p:cNvPr id="21" name="broker takeaway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Called before every mint, under a lock — this is the “unattended renewal engine” that makes multi-day jobs possible.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One request: ensure, then mint, then install</a:t>
            </a:r>
            <a:endParaRPr lang="en-US" sz="2600" dirty="0"/>
          </a:p>
        </p:txBody>
      </p:sp>
      <p:sp>
        <p:nvSpPr>
          <p:cNvPr id="3" name="flow num 1"/>
          <p:cNvSpPr/>
          <p:nvPr/>
        </p:nvSpPr>
        <p:spPr>
          <a:xfrm>
            <a:off x="457200" y="116128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61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ensure()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Kill switch? min_uid? Enrolled? Lock this user. Near expiry or home copy gone?</a:t>
            </a:r>
            <a:endParaRPr lang="en-US" sz="1200" dirty="0"/>
          </a:p>
        </p:txBody>
      </p:sp>
      <p:sp>
        <p:nvSpPr>
          <p:cNvPr id="7" name="flow num 2"/>
          <p:cNvSpPr/>
          <p:nvPr/>
        </p:nvSpPr>
        <p:spPr>
          <a:xfrm>
            <a:off x="457200" y="22128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48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_mint()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kvno on a throwaway broker copy, check the new cache, then atomic rename</a:t>
            </a:r>
            <a:endParaRPr lang="en-US" sz="1200" dirty="0"/>
          </a:p>
        </p:txBody>
      </p:sp>
      <p:sp>
        <p:nvSpPr>
          <p:cNvPr id="11" name="flow num 3"/>
          <p:cNvSpPr/>
          <p:nvPr/>
        </p:nvSpPr>
        <p:spPr>
          <a:xfrm>
            <a:off x="457200" y="32644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2004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_install()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566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setpriv as the user; helper fsyncs and renames into place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write as the user?</a:t>
            </a:r>
            <a:endParaRPr lang="en-US" sz="1600" dirty="0"/>
          </a:p>
        </p:txBody>
      </p:sp>
      <p:sp>
        <p:nvSpPr>
          <p:cNvPr id="16" name="setpriv code panel"/>
          <p:cNvSpPr/>
          <p:nvPr/>
        </p:nvSpPr>
        <p:spPr>
          <a:xfrm>
            <a:off x="4572000" y="1463040"/>
            <a:ext cx="4114800" cy="150876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setpriv code"/>
          <p:cNvSpPr txBox="1"/>
          <p:nvPr/>
        </p:nvSpPr>
        <p:spPr>
          <a:xfrm>
            <a:off x="4709160" y="15544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setpriv --reuid=&lt;uid&gt; --regid=&lt;gid&gt;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--init-groups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--inh-caps=-all --bounding-set=-all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--no-new-privs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krb-install-ccache &lt;dest&gt;</a:t>
            </a:r>
            <a:endParaRPr lang="en-US" sz="1200" dirty="0"/>
          </a:p>
        </p:txBody>
      </p:sp>
      <p:sp>
        <p:nvSpPr>
          <p:cNvPr id="18" name="why as user"/>
          <p:cNvSpPr txBox="1"/>
          <p:nvPr/>
        </p:nvSpPr>
        <p:spPr>
          <a:xfrm>
            <a:off x="4572000" y="31089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Root may be “squashed” on shared homes.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Root writing into a user-controlled folder invites symlink tricks.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Temp file + rename: nodes never see half a file.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front door: a UNIX socket that can't be fooled</a:t>
            </a:r>
            <a:endParaRPr lang="en-US" sz="2600" dirty="0"/>
          </a:p>
        </p:txBody>
      </p:sp>
      <p:sp>
        <p:nvSpPr>
          <p:cNvPr id="3" name="client code panel"/>
          <p:cNvSpPr/>
          <p:nvPr/>
        </p:nvSpPr>
        <p:spPr>
          <a:xfrm>
            <a:off x="457200" y="1051560"/>
            <a:ext cx="4023360" cy="13716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lient code"/>
          <p:cNvSpPr txBox="1"/>
          <p:nvPr/>
        </p:nvSpPr>
        <p:spPr>
          <a:xfrm>
            <a:off x="594360" y="1143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get.py (the user)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s.connect("/run/krb-hpc/credd.sock")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s.sendall(b"GET\n")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"OK /home/jdoe/.krb5/krb5cc_hpc"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print("export KRB5CCNAME=" + shlex.quote(...))</a:t>
            </a:r>
            <a:endParaRPr lang="en-US" sz="1200" dirty="0"/>
          </a:p>
        </p:txBody>
      </p:sp>
      <p:sp>
        <p:nvSpPr>
          <p:cNvPr id="5" name="server code panel"/>
          <p:cNvSpPr/>
          <p:nvPr/>
        </p:nvSpPr>
        <p:spPr>
          <a:xfrm>
            <a:off x="4663440" y="1051560"/>
            <a:ext cx="4023360" cy="13716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server code"/>
          <p:cNvSpPr txBox="1"/>
          <p:nvPr/>
        </p:nvSpPr>
        <p:spPr>
          <a:xfrm>
            <a:off x="4800600" y="1143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credd.py Handler (root)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creds = getsockopt(SOL_SOCKET,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SO_PEERCRED, 12)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pid, uid, gid = unpack("3i", creds)</a:t>
            </a:r>
            <a:endParaRPr lang="en-US" sz="1200" dirty="0"/>
          </a:p>
        </p:txBody>
      </p:sp>
      <p:sp>
        <p:nvSpPr>
          <p:cNvPr id="7" name="socket point 1 circle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socket poin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287395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2743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Kernel says who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08152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UID comes from SO_PEERCRED, never the request</a:t>
            </a:r>
            <a:endParaRPr lang="en-US" sz="1300" dirty="0"/>
          </a:p>
        </p:txBody>
      </p:sp>
      <p:sp>
        <p:nvSpPr>
          <p:cNvPr id="11" name="socket point 2 circle"/>
          <p:cNvSpPr/>
          <p:nvPr/>
        </p:nvSpPr>
        <p:spPr>
          <a:xfrm>
            <a:off x="3246120" y="2743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socket poin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79" y="287395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886200" y="2743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Own tickets only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886200" y="308152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Socket is 0666 — anyone may connect, nobody can ask for someone else</a:t>
            </a:r>
            <a:endParaRPr lang="en-US" sz="1300" dirty="0"/>
          </a:p>
        </p:txBody>
      </p:sp>
      <p:sp>
        <p:nvSpPr>
          <p:cNvPr id="15" name="socket point 3 circle"/>
          <p:cNvSpPr/>
          <p:nvPr/>
        </p:nvSpPr>
        <p:spPr>
          <a:xfrm>
            <a:off x="6035040" y="2743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socket poin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799" y="28739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75120" y="2743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Bounded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675120" y="308152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32 slots · 10 s per client · krb‑get gives up after 30 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Why tickets never expire mid-job</a:t>
            </a:r>
            <a:endParaRPr lang="en-US" sz="2600" dirty="0"/>
          </a:p>
        </p:txBody>
      </p:sp>
      <p:sp>
        <p:nvSpPr>
          <p:cNvPr id="3" name="stat 1"/>
          <p:cNvSpPr/>
          <p:nvPr/>
        </p:nvSpPr>
        <p:spPr>
          <a:xfrm>
            <a:off x="457200" y="105156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refresh loop period</a:t>
            </a:r>
            <a:endParaRPr lang="en-US" sz="1200" dirty="0"/>
          </a:p>
        </p:txBody>
      </p:sp>
      <p:sp>
        <p:nvSpPr>
          <p:cNvPr id="6" name="stat 2"/>
          <p:cNvSpPr/>
          <p:nvPr/>
        </p:nvSpPr>
        <p:spPr>
          <a:xfrm>
            <a:off x="2560320" y="105156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60320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h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re-mint before expiry</a:t>
            </a:r>
            <a:endParaRPr lang="en-US" sz="1200" dirty="0"/>
          </a:p>
        </p:txBody>
      </p:sp>
      <p:sp>
        <p:nvSpPr>
          <p:cNvPr id="9" name="stat 3"/>
          <p:cNvSpPr/>
          <p:nvPr/>
        </p:nvSpPr>
        <p:spPr>
          <a:xfrm>
            <a:off x="4663440" y="105156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h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ticket lifetime</a:t>
            </a:r>
            <a:endParaRPr lang="en-US" sz="1200" dirty="0"/>
          </a:p>
        </p:txBody>
      </p:sp>
      <p:sp>
        <p:nvSpPr>
          <p:cNvPr id="12" name="stat 4"/>
          <p:cNvSpPr/>
          <p:nvPr/>
        </p:nvSpPr>
        <p:spPr>
          <a:xfrm>
            <a:off x="6766560" y="105156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66560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active window after krb-get</a:t>
            </a:r>
            <a:endParaRPr lang="en-US" sz="1200" dirty="0"/>
          </a:p>
        </p:txBody>
      </p:sp>
      <p:sp>
        <p:nvSpPr>
          <p:cNvPr id="15" name="squeue code panel"/>
          <p:cNvSpPr/>
          <p:nvPr/>
        </p:nvSpPr>
        <p:spPr>
          <a:xfrm>
            <a:off x="457200" y="2651760"/>
            <a:ext cx="402336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squeue code"/>
          <p:cNvSpPr txBox="1"/>
          <p:nvPr/>
        </p:nvSpPr>
        <p:spPr>
          <a:xfrm>
            <a:off x="59436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squeue -h -a -t PD,CF,R,CG -o %U</a:t>
            </a:r>
            <a:endParaRPr lang="en-US" sz="1300" dirty="0"/>
          </a:p>
        </p:txBody>
      </p:sp>
      <p:sp>
        <p:nvSpPr>
          <p:cNvPr id="17" name="refresh explanation"/>
          <p:cNvSpPr txBox="1"/>
          <p:nvPr/>
        </p:nvSpPr>
        <p:spPr>
          <a:xfrm>
            <a:off x="457200" y="32461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pass refreshes the union of recent krb-get users and everyone with a pending, configuring, running or completing job — so a job submitted from cron, never touching a shell, still gets tickets.</a:t>
            </a:r>
            <a:endParaRPr lang="en-US" sz="1300" dirty="0"/>
          </a:p>
        </p:txBody>
      </p:sp>
      <p:sp>
        <p:nvSpPr>
          <p:cNvPr id="18" name="renew note"/>
          <p:cNvSpPr txBox="1"/>
          <p:nvPr/>
        </p:nvSpPr>
        <p:spPr>
          <a:xfrm>
            <a:off x="4663440" y="2651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Service tickets can't be renewed — only replaced. The daemon re-mints them with a fresh S4U call; only the broker's own TGT is renewed.</a:t>
            </a:r>
            <a:endParaRPr lang="en-US" sz="1300" dirty="0"/>
          </a:p>
        </p:txBody>
      </p:sp>
      <p:sp>
        <p:nvSpPr>
          <p:cNvPr id="19" name="idle note"/>
          <p:cNvSpPr txBox="1"/>
          <p:nvPr/>
        </p:nvSpPr>
        <p:spPr>
          <a:xfrm>
            <a:off x="4663440" y="3611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 users at a time; a failing user is backed off; after a restart, active users are resumed and refreshed at once.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Getting tickets to 1,000 nodes: one line</a:t>
            </a:r>
            <a:endParaRPr lang="en-US" sz="2600" dirty="0"/>
          </a:p>
        </p:txBody>
      </p:sp>
      <p:sp>
        <p:nvSpPr>
          <p:cNvPr id="3" name="taskprolog code panel"/>
          <p:cNvSpPr/>
          <p:nvPr/>
        </p:nvSpPr>
        <p:spPr>
          <a:xfrm>
            <a:off x="457200" y="1051560"/>
            <a:ext cx="4754880" cy="1691640"/>
          </a:xfrm>
          <a:prstGeom prst="roundRect">
            <a:avLst>
              <a:gd name="adj" fmla="val 324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askprolog code"/>
          <p:cNvSpPr txBox="1"/>
          <p:nvPr/>
        </p:nvSpPr>
        <p:spPr>
          <a:xfrm>
            <a:off x="594360" y="1143000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slurm/taskprolog.krb.sh — runs as the user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home=${HOME:-$(getent passwd $(id -u) | cut -d: -f6)}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cc="${home}/.krb5/krb5cc_hpc"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[[ -s "$cc" ]]; then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"export KRB5CCNAME=FILE:${cc}"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100" dirty="0"/>
          </a:p>
        </p:txBody>
      </p:sp>
      <p:sp>
        <p:nvSpPr>
          <p:cNvPr id="5" name="slurm conf line"/>
          <p:cNvSpPr txBox="1"/>
          <p:nvPr/>
        </p:nvSpPr>
        <p:spPr>
          <a:xfrm>
            <a:off x="45720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slurm.conf:  TaskProlog=/etc/slurm/taskprolog.krb.sh</a:t>
            </a:r>
            <a:endParaRPr lang="en-US" sz="1100" dirty="0"/>
          </a:p>
        </p:txBody>
      </p:sp>
      <p:sp>
        <p:nvSpPr>
          <p:cNvPr id="6" name="compute explanation"/>
          <p:cNvSpPr txBox="1"/>
          <p:nvPr/>
        </p:nvSpPr>
        <p:spPr>
          <a:xfrm>
            <a:off x="457200" y="33832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SPANK plugin, no KCM, no node daemon, no copy step. The home directory is already mounted everywhere; Slurm adds the printed export line to the task's environment.</a:t>
            </a:r>
            <a:endParaRPr lang="en-US" sz="1400" dirty="0"/>
          </a:p>
        </p:txBody>
      </p:sp>
      <p:sp>
        <p:nvSpPr>
          <p:cNvPr id="7" name="nodes card"/>
          <p:cNvSpPr/>
          <p:nvPr/>
        </p:nvSpPr>
        <p:spPr>
          <a:xfrm>
            <a:off x="5486400" y="1051560"/>
            <a:ext cx="3200400" cy="333756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8" name="shared home circle"/>
          <p:cNvSpPr/>
          <p:nvPr/>
        </p:nvSpPr>
        <p:spPr>
          <a:xfrm>
            <a:off x="6720840" y="12344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shared hom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1035" y="142463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57784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$HOME/.krb5/krb5cc_hpc</a:t>
            </a:r>
            <a:endParaRPr lang="en-US" sz="1200" dirty="0"/>
          </a:p>
        </p:txBody>
      </p:sp>
      <p:sp>
        <p:nvSpPr>
          <p:cNvPr id="11" name="node 1 circle"/>
          <p:cNvSpPr/>
          <p:nvPr/>
        </p:nvSpPr>
        <p:spPr>
          <a:xfrm>
            <a:off x="5760720" y="2606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nod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366" y="2748686"/>
            <a:ext cx="263347" cy="263347"/>
          </a:xfrm>
          <a:prstGeom prst="rect">
            <a:avLst/>
          </a:prstGeom>
        </p:spPr>
      </p:pic>
      <p:sp>
        <p:nvSpPr>
          <p:cNvPr id="13" name="node 2 circle"/>
          <p:cNvSpPr/>
          <p:nvPr/>
        </p:nvSpPr>
        <p:spPr>
          <a:xfrm>
            <a:off x="6473952" y="2606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nod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598" y="2748686"/>
            <a:ext cx="263347" cy="263347"/>
          </a:xfrm>
          <a:prstGeom prst="rect">
            <a:avLst/>
          </a:prstGeom>
        </p:spPr>
      </p:pic>
      <p:sp>
        <p:nvSpPr>
          <p:cNvPr id="15" name="node 3 circle"/>
          <p:cNvSpPr/>
          <p:nvPr/>
        </p:nvSpPr>
        <p:spPr>
          <a:xfrm>
            <a:off x="7187184" y="2606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node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830" y="2748686"/>
            <a:ext cx="263347" cy="263347"/>
          </a:xfrm>
          <a:prstGeom prst="rect">
            <a:avLst/>
          </a:prstGeom>
        </p:spPr>
      </p:pic>
      <p:sp>
        <p:nvSpPr>
          <p:cNvPr id="17" name="node 4 circle"/>
          <p:cNvSpPr/>
          <p:nvPr/>
        </p:nvSpPr>
        <p:spPr>
          <a:xfrm>
            <a:off x="7900416" y="2606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node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062" y="274868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57784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cn001 … cnNNN read the same file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557784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0700 folder · 0600 file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Supporting it: orthrus --check</a:t>
            </a:r>
            <a:endParaRPr lang="en-US" sz="2600" dirty="0"/>
          </a:p>
        </p:txBody>
      </p:sp>
      <p:sp>
        <p:nvSpPr>
          <p:cNvPr id="3" name="check output panel"/>
          <p:cNvSpPr/>
          <p:nvPr/>
        </p:nvSpPr>
        <p:spPr>
          <a:xfrm>
            <a:off x="457200" y="1051560"/>
            <a:ext cx="4754880" cy="2743200"/>
          </a:xfrm>
          <a:prstGeom prst="roundRect">
            <a:avLst>
              <a:gd name="adj" fmla="val 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eck output"/>
          <p:cNvSpPr txBox="1"/>
          <p:nvPr/>
        </p:nvSpPr>
        <p:spPr>
          <a:xfrm>
            <a:off x="594360" y="114300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orthrus --check --user jdoe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config /etc/krb-hpc/credd.conf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trusted files and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MIT Kerberos version: 1.21.3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kill switch: off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uid map: 2 enrolled; min_uid 1000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broker TGT from keytab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squeue: 14 user(s) with jobs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constrained delegation for jdoe;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validated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checks passed</a:t>
            </a:r>
            <a:endParaRPr lang="en-US" sz="1100" dirty="0"/>
          </a:p>
        </p:txBody>
      </p:sp>
      <p:sp>
        <p:nvSpPr>
          <p:cNvPr id="5" name="check explanation"/>
          <p:cNvSpPr txBox="1"/>
          <p:nvPr/>
        </p:nvSpPr>
        <p:spPr>
          <a:xfrm>
            <a:off x="5486400" y="1051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Checks a deployment without starting the daemon or touching anyone's home. With ‑‑user it does a real delegation for that user — and names the failure category if it fails.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When something fails, the log says why:</a:t>
            </a:r>
            <a:endParaRPr lang="en-US" sz="1300" dirty="0"/>
          </a:p>
        </p:txBody>
      </p:sp>
      <p:sp>
        <p:nvSpPr>
          <p:cNvPr id="7" name="categories"/>
          <p:cNvSpPr txBox="1"/>
          <p:nvPr/>
        </p:nvSpPr>
        <p:spPr>
          <a:xfrm>
            <a:off x="5486400" y="29260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not_delegable · kdc_unreachable · timeout · clock_skew · unknown_principal · broker_key · bad_cache · bad_ticket</a:t>
            </a:r>
            <a:endParaRPr lang="en-US" sz="1200" dirty="0"/>
          </a:p>
        </p:txBody>
      </p:sp>
      <p:sp>
        <p:nvSpPr>
          <p:cNvPr id="8" name="user message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Users get a plain-language reason, e.g. “your account cannot be delegated; contact the HPC admins”.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Defense in depth, line by line</a:t>
            </a:r>
            <a:endParaRPr lang="en-US" sz="2600" dirty="0"/>
          </a:p>
        </p:txBody>
      </p:sp>
      <p:sp>
        <p:nvSpPr>
          <p:cNvPr id="3" name="defense 1 circle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defens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285646"/>
            <a:ext cx="263347" cy="2633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124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Identity from kernel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490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SO_PEERCRED · credd.py 658-660</a:t>
            </a:r>
            <a:endParaRPr lang="en-US" sz="1200" dirty="0"/>
          </a:p>
        </p:txBody>
      </p:sp>
      <p:sp>
        <p:nvSpPr>
          <p:cNvPr id="7" name="defense 2 circle"/>
          <p:cNvSpPr/>
          <p:nvPr/>
        </p:nvSpPr>
        <p:spPr>
          <a:xfrm>
            <a:off x="4663440" y="1143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defens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128564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94960" y="1124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Write as the user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1490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setpriv, no caps, no-new-privs · credd.py 432-434</a:t>
            </a:r>
            <a:endParaRPr lang="en-US" sz="1200" dirty="0"/>
          </a:p>
        </p:txBody>
      </p:sp>
      <p:sp>
        <p:nvSpPr>
          <p:cNvPr id="11" name="defense 3 circle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defens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242864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267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Fail closed on tampering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2633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Config, keytab (0600), uid map, helper and kinit/klist/kvno</a:t>
            </a:r>
            <a:endParaRPr lang="en-US" sz="1200" dirty="0"/>
          </a:p>
        </p:txBody>
      </p:sp>
      <p:sp>
        <p:nvSpPr>
          <p:cNvPr id="15" name="defense 4 circle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defens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086" y="2428646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94960" y="2267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Tools by path, clean environment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633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absolute paths, MIT 1.19+ · _krb.py 281-295</a:t>
            </a:r>
            <a:endParaRPr lang="en-US" sz="1200" dirty="0"/>
          </a:p>
        </p:txBody>
      </p:sp>
      <p:sp>
        <p:nvSpPr>
          <p:cNvPr id="19" name="defense 5 circle"/>
          <p:cNvSpPr/>
          <p:nvPr/>
        </p:nvSpPr>
        <p:spPr>
          <a:xfrm>
            <a:off x="457200" y="3429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defens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3571646"/>
            <a:ext cx="263347" cy="26334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410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Atomic everywhere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188720" y="3776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 caches, master copy, broker acquire and renew</a:t>
            </a:r>
            <a:endParaRPr lang="en-US" sz="1200" dirty="0"/>
          </a:p>
        </p:txBody>
      </p:sp>
      <p:sp>
        <p:nvSpPr>
          <p:cNvPr id="23" name="defense 6 circle"/>
          <p:cNvSpPr/>
          <p:nvPr/>
        </p:nvSpPr>
        <p:spPr>
          <a:xfrm>
            <a:off x="4663440" y="3429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defens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6086" y="3571646"/>
            <a:ext cx="263347" cy="26334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94960" y="3410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Four capabilities only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394960" y="3776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SETUID · SETGID · SETPCAP · DAC_READ_SEARCH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two honest trade-offs</a:t>
            </a:r>
            <a:endParaRPr lang="en-US" sz="2600" dirty="0"/>
          </a:p>
        </p:txBody>
      </p:sp>
      <p:sp>
        <p:nvSpPr>
          <p:cNvPr id="3" name="tradeoff card 1"/>
          <p:cNvSpPr/>
          <p:nvPr/>
        </p:nvSpPr>
        <p:spPr>
          <a:xfrm>
            <a:off x="457200" y="105156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4" name="tradeoff 1 circle"/>
          <p:cNvSpPr/>
          <p:nvPr/>
        </p:nvSpPr>
        <p:spPr>
          <a:xfrm>
            <a:off x="685800" y="123444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tradeoff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3889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One keytab, concentrated risk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Risk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86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Easier to protect than N per-user keytabs, but a thief could mint allow-listed tickets as any eligible user.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Mitigation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474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HSM or gMSA key · tight allow-list · monitoring · backend authorization (Ranger)</a:t>
            </a:r>
            <a:endParaRPr lang="en-US" sz="1300" dirty="0"/>
          </a:p>
        </p:txBody>
      </p:sp>
      <p:sp>
        <p:nvSpPr>
          <p:cNvPr id="11" name="tradeoff card 2"/>
          <p:cNvSpPr/>
          <p:nvPr/>
        </p:nvSpPr>
        <p:spPr>
          <a:xfrm>
            <a:off x="4663440" y="105156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12" name="tradeoff 2 circle"/>
          <p:cNvSpPr/>
          <p:nvPr/>
        </p:nvSpPr>
        <p:spPr>
          <a:xfrm>
            <a:off x="4892040" y="123444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tradeoff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574" y="138897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2356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Tickets on shared storage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89204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Risk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2286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Anyone who can act as that UID on the filesystem (incl. root on NFS sec=sys) can read the cache.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Mitigation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892040" y="3474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sec=krb5p · root_squash · short lifetimes · 0700/0600 — and it's service tickets, not a TGT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Extension: from Kerberos ticket to lakeFS key</a:t>
            </a:r>
            <a:endParaRPr lang="en-US" sz="2600" dirty="0"/>
          </a:p>
        </p:txBody>
      </p:sp>
      <p:pic>
        <p:nvPicPr>
          <p:cNvPr id="3" name="lakeFS architecture diagram" descr="lakeFS S3A credential exch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5120640" cy="3200400"/>
          </a:xfrm>
          <a:prstGeom prst="rect">
            <a:avLst/>
          </a:prstGeom>
        </p:spPr>
      </p:pic>
      <p:sp>
        <p:nvSpPr>
          <p:cNvPr id="4" name="lakeFS steps"/>
          <p:cNvSpPr txBox="1"/>
          <p:nvPr/>
        </p:nvSpPr>
        <p:spPr>
          <a:xfrm>
            <a:off x="5760720" y="10058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Spark executor's Java provider sends SPNEGO (Negotiate) to the broker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Apache mod_auth_gssapi verifies it, passes the user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Flask broker mints a key via the lakeFS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S3A signs requests with that key</a:t>
            </a:r>
            <a:endParaRPr lang="en-US" sz="1300" dirty="0"/>
          </a:p>
        </p:txBody>
      </p:sp>
      <p:sp>
        <p:nvSpPr>
          <p:cNvPr id="5" name="lakeFS caveat"/>
          <p:cNvSpPr txBox="1"/>
          <p:nvPr/>
        </p:nvSpPr>
        <p:spPr>
          <a:xfrm>
            <a:off x="5760720" y="3749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Check: keys are not deleted by the broker — confirm TTL support in your lakeFS.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What the tests prove — and what they don't</a:t>
            </a:r>
            <a:endParaRPr lang="en-US" sz="2600" dirty="0"/>
          </a:p>
        </p:txBody>
      </p:sp>
      <p:sp>
        <p:nvSpPr>
          <p:cNvPr id="3" name="verified card"/>
          <p:cNvSpPr/>
          <p:nvPr/>
        </p:nvSpPr>
        <p:spPr>
          <a:xfrm>
            <a:off x="457200" y="10515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4" name="verified circle"/>
          <p:cNvSpPr/>
          <p:nvPr/>
        </p:nvSpPr>
        <p:spPr>
          <a:xfrm>
            <a:off x="685800" y="12344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verifie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3651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61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Verified</a:t>
            </a:r>
            <a:endParaRPr lang="en-US" sz="1700" dirty="0"/>
          </a:p>
        </p:txBody>
      </p:sp>
      <p:sp>
        <p:nvSpPr>
          <p:cNvPr id="7" name="verified list"/>
          <p:cNvSpPr txBox="1"/>
          <p:nvPr/>
        </p:nvSpPr>
        <p:spPr>
          <a:xfrm>
            <a:off x="685800" y="18288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Full S4U2Self + S4U2Proxy against a KDC with an allow-list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Install as user, 0600, service tickets 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4 nodes + real GSSAPI accept; refresh, repair, restart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Refusals, hostile environment, --check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Ticket checks, kill switch, cooldown, --status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Daemon limited to its 4 capabilities</a:t>
            </a:r>
            <a:endParaRPr lang="en-US" sz="1300" dirty="0"/>
          </a:p>
        </p:txBody>
      </p:sp>
      <p:sp>
        <p:nvSpPr>
          <p:cNvPr id="8" name="not verified card"/>
          <p:cNvSpPr/>
          <p:nvPr/>
        </p:nvSpPr>
        <p:spPr>
          <a:xfrm>
            <a:off x="4663440" y="10515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7E7E7"/>
          </a:solidFill>
          <a:ln w="12700">
            <a:solidFill>
              <a:srgbClr val="F7E7E7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9" name="not verified circle"/>
          <p:cNvSpPr/>
          <p:nvPr/>
        </p:nvSpPr>
        <p:spPr>
          <a:xfrm>
            <a:off x="4892040" y="12344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not verifie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99" y="13651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61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Not exercised</a:t>
            </a:r>
            <a:endParaRPr lang="en-US" sz="1700" dirty="0"/>
          </a:p>
        </p:txBody>
      </p:sp>
      <p:sp>
        <p:nvSpPr>
          <p:cNvPr id="12" name="not verified list"/>
          <p:cNvSpPr txBox="1"/>
          <p:nvPr/>
        </p:nvSpPr>
        <p:spPr>
          <a:xfrm>
            <a:off x="4892040" y="18745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 Active Directory (PAC, its allow-list checks)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 Slurm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 shared FS with root_squash / krb5p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HiveServer2</a:t>
            </a:r>
            <a:endParaRPr lang="en-US" sz="1400" dirty="0"/>
          </a:p>
        </p:txBody>
      </p:sp>
      <p:sp>
        <p:nvSpPr>
          <p:cNvPr id="13" name="tests footer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38/38 end-to-end checks (MIT 1.20.1 and 1.21.3) and 45/45 unit tests PASS (tests/*.output.txt)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Known limits to mention</a:t>
            </a:r>
            <a:endParaRPr lang="en-US" sz="2600" dirty="0"/>
          </a:p>
        </p:txBody>
      </p:sp>
      <p:sp>
        <p:nvSpPr>
          <p:cNvPr id="3" name="note card 1"/>
          <p:cNvSpPr/>
          <p:nvPr/>
        </p:nvSpPr>
        <p:spPr>
          <a:xfrm>
            <a:off x="457200" y="10515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4" name="note 1 circle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not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990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984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test still needed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Real AD, Slurm, shared storage and Hive haven't been exercised</a:t>
            </a:r>
            <a:endParaRPr lang="en-US" sz="1300" dirty="0"/>
          </a:p>
        </p:txBody>
      </p:sp>
      <p:sp>
        <p:nvSpPr>
          <p:cNvPr id="8" name="note card 2"/>
          <p:cNvSpPr/>
          <p:nvPr/>
        </p:nvSpPr>
        <p:spPr>
          <a:xfrm>
            <a:off x="4663440" y="10515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9" name="note 2 circle"/>
          <p:cNvSpPr/>
          <p:nvPr/>
        </p:nvSpPr>
        <p:spPr>
          <a:xfrm>
            <a:off x="489204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not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990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984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Root-squashed homes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deleted cache returns at the next mint, not the next pass</a:t>
            </a:r>
            <a:endParaRPr lang="en-US" sz="1300" dirty="0"/>
          </a:p>
        </p:txBody>
      </p:sp>
      <p:sp>
        <p:nvSpPr>
          <p:cNvPr id="13" name="note card 3"/>
          <p:cNvSpPr/>
          <p:nvPr/>
        </p:nvSpPr>
        <p:spPr>
          <a:xfrm>
            <a:off x="457200" y="274320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14" name="note 3 circle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not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09067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29900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In-memory backoff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35661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After a restart a failing user is retried once</a:t>
            </a:r>
            <a:endParaRPr lang="en-US" sz="1300" dirty="0"/>
          </a:p>
        </p:txBody>
      </p:sp>
      <p:sp>
        <p:nvSpPr>
          <p:cNvPr id="18" name="note card 4"/>
          <p:cNvSpPr/>
          <p:nvPr/>
        </p:nvSpPr>
        <p:spPr>
          <a:xfrm>
            <a:off x="4663440" y="274320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6">
                <a:alpha val="25000"/>
              </a:srgbClr>
            </a:outerShdw>
          </a:effectLst>
        </p:spPr>
      </p:sp>
      <p:sp>
        <p:nvSpPr>
          <p:cNvPr id="19" name="note 4 circle"/>
          <p:cNvSpPr/>
          <p:nvPr/>
        </p:nvSpPr>
        <p:spPr>
          <a:xfrm>
            <a:off x="4892040" y="2971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not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09067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29900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Ticket name check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35661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Tickets must name the uidmap entry or the Linux user; qualify users of other domains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Remember three things</a:t>
            </a:r>
            <a:endParaRPr lang="en-US" sz="4000" dirty="0"/>
          </a:p>
        </p:txBody>
      </p:sp>
      <p:sp>
        <p:nvSpPr>
          <p:cNvPr id="3" name="takeaway 1 circle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akeawa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724912"/>
            <a:ext cx="219456" cy="219456"/>
          </a:xfrm>
          <a:prstGeom prst="rect">
            <a:avLst/>
          </a:prstGeom>
        </p:spPr>
      </p:pic>
      <p:sp>
        <p:nvSpPr>
          <p:cNvPr id="5" name="takeaway text 1"/>
          <p:cNvSpPr txBox="1"/>
          <p:nvPr/>
        </p:nvSpPr>
        <p:spPr>
          <a:xfrm>
            <a:off x="118872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One broker key, not one per user</a:t>
            </a:r>
            <a:endParaRPr lang="en-US" sz="1800" dirty="0"/>
          </a:p>
        </p:txBody>
      </p:sp>
      <p:sp>
        <p:nvSpPr>
          <p:cNvPr id="6" name="takeaway 2 circle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takeawa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364992"/>
            <a:ext cx="219456" cy="219456"/>
          </a:xfrm>
          <a:prstGeom prst="rect">
            <a:avLst/>
          </a:prstGeom>
        </p:spPr>
      </p:pic>
      <p:sp>
        <p:nvSpPr>
          <p:cNvPr id="8" name="takeaway text 2"/>
          <p:cNvSpPr txBox="1"/>
          <p:nvPr/>
        </p:nvSpPr>
        <p:spPr>
          <a:xfrm>
            <a:off x="1188720" y="32461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Users get service tickets only — never a TGT</a:t>
            </a:r>
            <a:endParaRPr lang="en-US" sz="1800" dirty="0"/>
          </a:p>
        </p:txBody>
      </p:sp>
      <p:sp>
        <p:nvSpPr>
          <p:cNvPr id="9" name="takeaway 3 circle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takeawa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005072"/>
            <a:ext cx="219456" cy="219456"/>
          </a:xfrm>
          <a:prstGeom prst="rect">
            <a:avLst/>
          </a:prstGeom>
        </p:spPr>
      </p:pic>
      <p:sp>
        <p:nvSpPr>
          <p:cNvPr id="11" name="takeaway text 3"/>
          <p:cNvSpPr txBox="1"/>
          <p:nvPr/>
        </p:nvSpPr>
        <p:spPr>
          <a:xfrm>
            <a:off x="1188720" y="38862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The shared home is the transport; Slurm just points at it</a:t>
            </a:r>
            <a:endParaRPr lang="en-US" sz="1800" dirty="0"/>
          </a:p>
        </p:txBody>
      </p:sp>
      <p:sp>
        <p:nvSpPr>
          <p:cNvPr id="1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oker Keys">
  <a:themeElements>
    <a:clrScheme name="Broker Keys">
      <a:dk1>
        <a:srgbClr val="16202E"/>
      </a:dk1>
      <a:lt1>
        <a:srgbClr val="FFFFFF"/>
      </a:lt1>
      <a:dk2>
        <a:srgbClr val="1F3A5F"/>
      </a:dk2>
      <a:lt2>
        <a:srgbClr val="E8EEF6"/>
      </a:lt2>
      <a:accent1>
        <a:srgbClr val="C77A12"/>
      </a:accent1>
      <a:accent2>
        <a:srgbClr val="1F3A5F"/>
      </a:accent2>
      <a:accent3>
        <a:srgbClr val="2E7D4F"/>
      </a:accent3>
      <a:accent4>
        <a:srgbClr val="B23A3A"/>
      </a:accent4>
      <a:accent5>
        <a:srgbClr val="5B6778"/>
      </a:accent5>
      <a:accent6>
        <a:srgbClr val="8AA4C8"/>
      </a:accent6>
      <a:hlink>
        <a:srgbClr val="2B6CB0"/>
      </a:hlink>
      <a:folHlink>
        <a:srgbClr val="6B46C1"/>
      </a:folHlink>
    </a:clrScheme>
    <a:fontScheme name="Broker Key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shared-home-kerberos explained</dc:title>
  <dc:subject>PptxGenJS Presentation</dc:subject>
  <dc:creator>Claude</dc:creator>
  <cp:lastModifiedBy>Claude</cp:lastModifiedBy>
  <cp:revision>1</cp:revision>
  <dcterms:created xsi:type="dcterms:W3CDTF">2026-10-10T22:16:34Z</dcterms:created>
  <dcterms:modified xsi:type="dcterms:W3CDTF">2026-10-10T22:16:34Z</dcterms:modified>
</cp:coreProperties>
</file>